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1052" r:id="rId5"/>
    <p:sldId id="1066" r:id="rId6"/>
    <p:sldId id="902" r:id="rId7"/>
    <p:sldId id="903" r:id="rId8"/>
    <p:sldId id="905" r:id="rId9"/>
    <p:sldId id="904" r:id="rId10"/>
    <p:sldId id="907" r:id="rId11"/>
    <p:sldId id="908" r:id="rId12"/>
    <p:sldId id="912" r:id="rId13"/>
    <p:sldId id="913" r:id="rId14"/>
    <p:sldId id="1063" r:id="rId15"/>
    <p:sldId id="1064" r:id="rId16"/>
    <p:sldId id="918" r:id="rId17"/>
    <p:sldId id="1042" r:id="rId18"/>
    <p:sldId id="1043" r:id="rId19"/>
    <p:sldId id="1041" r:id="rId20"/>
    <p:sldId id="1044" r:id="rId21"/>
    <p:sldId id="915" r:id="rId22"/>
    <p:sldId id="917" r:id="rId23"/>
    <p:sldId id="919" r:id="rId24"/>
    <p:sldId id="920" r:id="rId25"/>
    <p:sldId id="925" r:id="rId26"/>
    <p:sldId id="921" r:id="rId27"/>
    <p:sldId id="922" r:id="rId28"/>
    <p:sldId id="906" r:id="rId29"/>
    <p:sldId id="923" r:id="rId30"/>
    <p:sldId id="926" r:id="rId31"/>
    <p:sldId id="924" r:id="rId32"/>
    <p:sldId id="927" r:id="rId33"/>
    <p:sldId id="928" r:id="rId34"/>
    <p:sldId id="1045" r:id="rId35"/>
    <p:sldId id="929" r:id="rId36"/>
    <p:sldId id="930" r:id="rId37"/>
    <p:sldId id="1046" r:id="rId38"/>
    <p:sldId id="931" r:id="rId39"/>
    <p:sldId id="934" r:id="rId40"/>
    <p:sldId id="1047" r:id="rId41"/>
    <p:sldId id="932" r:id="rId42"/>
    <p:sldId id="1049" r:id="rId43"/>
    <p:sldId id="1050" r:id="rId44"/>
    <p:sldId id="1051" r:id="rId45"/>
    <p:sldId id="1053" r:id="rId46"/>
    <p:sldId id="1054" r:id="rId47"/>
    <p:sldId id="936" r:id="rId48"/>
    <p:sldId id="1028" r:id="rId49"/>
    <p:sldId id="977" r:id="rId50"/>
    <p:sldId id="1059" r:id="rId51"/>
  </p:sldIdLst>
  <p:sldSz cx="12192000" cy="6858000"/>
  <p:notesSz cx="6669088" cy="975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E6D82"/>
    <a:srgbClr val="A31515"/>
    <a:srgbClr val="098658"/>
    <a:srgbClr val="89C5AF"/>
    <a:srgbClr val="009900"/>
    <a:srgbClr val="008000"/>
    <a:srgbClr val="FFFFFF"/>
    <a:srgbClr val="8FC78F"/>
    <a:srgbClr val="787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 autoAdjust="0"/>
    <p:restoredTop sz="77966" autoAdjust="0"/>
  </p:normalViewPr>
  <p:slideViewPr>
    <p:cSldViewPr snapToGrid="0">
      <p:cViewPr varScale="1">
        <p:scale>
          <a:sx n="64" d="100"/>
          <a:sy n="64" d="100"/>
        </p:scale>
        <p:origin x="1354" y="3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89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89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264229"/>
            <a:ext cx="2889938" cy="489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7607" y="9264229"/>
            <a:ext cx="2889938" cy="489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89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89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19200"/>
            <a:ext cx="5853112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693920"/>
            <a:ext cx="5335270" cy="38404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229"/>
            <a:ext cx="2889938" cy="489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264229"/>
            <a:ext cx="2889938" cy="489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77466-A4E6-9AA1-3267-52015C025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80FA9-EB84-FCF0-F025-21109AAD5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059BF-5819-14E8-F44D-245CC0545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C7B47-BA88-6FEC-45EE-2507F2F1D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0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0CF59-9352-AC58-108E-33ECA50D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8153B-CA8D-E9E8-5A8B-29986EBF2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896FE-F41D-A370-FE3A-03E3B5190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D59CC-2F4E-0297-D31E-9CC721B20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14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4788-7048-0172-4940-5207C0CD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4DE4E-01F4-720F-1664-C959075CD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6FCD1-57CF-6D34-7069-FBDFD6528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69505-D72D-6BEC-4C6C-C8A86672A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82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29AB-7AE2-D4DE-D33A-2E5BB7B7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6E50E-E502-967A-EDC0-62EF46732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F09D6-350F-BB2A-F970-3BFA2A507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ECD6A-9501-59C6-EE59-46E1D3C3B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29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B4B0D-341F-FBF1-32DD-249D1AF28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352E1-2649-8D1E-D841-8EB3C1960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3565B-5ACD-454B-8063-6E223077F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9331E-2B14-F19C-1FA7-4439A13A3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05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30CA-6BC8-7BC7-7D7E-172D4A60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ED3B6-945E-6DE4-2C36-79FD61F02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9FADC-333D-3B8B-DBC7-DC2882B67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AD57B-CAD1-0C81-7F77-03B15F3BA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4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CD3E3-3DAF-E3C4-A4CC-367D2C84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99A6E-C9C8-46B1-15D7-D53330B6D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BFF4F-8D6D-6B68-E155-3AA23CD18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199D2-1C2A-9EFA-DF89-DD15B6950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05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156B-6768-302A-6D5A-0A579D50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2526A-F7C1-5C41-E33E-CA275A0C6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7D995-46A9-0132-089E-4F275FA6A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1AE8F-593C-608A-A4C2-D392E613F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86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6A209-1DA5-2BF2-A207-8EE5908F3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70240-E42A-AD5C-8D39-ACB8DAB21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DD98F-20D3-D078-9382-5EF0D474D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A580D-1724-3B3F-1C6B-DE4C37D10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72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72955-5D30-EB5C-5D47-86276B1F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037A5-B36C-B8E1-A110-FA408B445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3B520-988D-41F4-AD9D-CFC161BA7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0669E-4AC4-50E7-0D7C-314FF976D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95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C1936-BA20-5911-0A94-4B28E176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B12DE-6981-FB1F-C854-F3241978E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B95DE-AA4B-7B53-1D5D-4851F6D0B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5EB6E-165C-D089-0EA7-E3177BFB3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84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5C18F-FBCC-EBF2-152A-C0551DF2B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CC1C4-C38D-EABA-0497-EB10B94C9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1D78F8C-EBA8-C371-FE0C-B66D86E4BCA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N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1D78F8C-EBA8-C371-FE0C-B66D86E4BCA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Linear regression tries to find a unique solution for:</a:t>
                </a:r>
                <a:r>
                  <a:rPr lang="en-US" baseline="0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𝑤_0+𝑤_1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"red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"+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𝑤_2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"blue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"+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𝑤_3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"green</a:t>
                </a:r>
                <a:r>
                  <a:rPr lang="en-NL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r>
                  <a:rPr lang="en-US" b="0" dirty="0"/>
                  <a:t>. With fully one-hot encoding</a:t>
                </a:r>
                <a:r>
                  <a:rPr lang="en-US" b="0" baseline="0" dirty="0"/>
                  <a:t> there are </a:t>
                </a:r>
                <a:r>
                  <a:rPr lang="en-US" b="1" dirty="0"/>
                  <a:t>infinitely many combinations</a:t>
                </a:r>
                <a:r>
                  <a:rPr lang="en-US" dirty="0"/>
                  <a:t> of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𝑤_1,𝑤_2,𝑤_3</a:t>
                </a:r>
                <a:r>
                  <a:rPr lang="en-US" dirty="0"/>
                  <a:t>that give exactly the same predictions,</a:t>
                </a:r>
                <a:r>
                  <a:rPr lang="en-US" baseline="0" dirty="0"/>
                  <a:t> so the model cannot optimize to unique weights. </a:t>
                </a:r>
                <a:endParaRPr lang="en-US" b="0" dirty="0"/>
              </a:p>
              <a:p>
                <a:endParaRPr lang="en-N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F36CB-02F9-5004-AC9B-172F8CAF2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04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5603-7B52-600A-630C-E183414DD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D4636-059F-207D-A750-3AD9F49BB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C613E-B5B2-0EC7-0CF5-D31B37193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1B00E-27DF-B2A2-00F3-FAA679099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633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A0DA0-FD7F-47DF-885F-7AA09269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A6455-A6FC-24E2-8F7C-2150DFBDE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975C8-06E0-9911-E7B6-C158F70DF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F2C7C-C1DC-779E-7524-2114BCF30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38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7A4B1-3D55-44C3-B6F3-9BBF0E736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90363-CE01-E297-4475-6EBBF8F9D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D2192-70FE-B0CD-2F9A-CA3E2F2BD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40E36-A298-88FC-863B-0C6A6E220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46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2C586-D4E3-69D3-312F-A04C50A3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E11D5-53AA-1EE2-37B1-16788BECD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C7D8D-645D-2722-6630-A17F1EC01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12E09-B95E-00B5-34FA-827B66124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41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C8867-E4CD-492A-E2C7-A0504B95F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708D5-9821-282A-2888-AC5630BC8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B6436-AB65-5D4E-0E4C-6C530221E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B0061-4687-9ECB-B6AF-F9F563F361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28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DB51-0418-B6E4-BBE8-101267CD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BA9C7-B0A4-6777-5658-BA25088DA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EC688-CE60-05F1-B8B9-A092472F2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80FD1-6E72-449C-90ED-DD533E429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26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903AF-FD6A-8CFF-66E4-D98D37DDE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51364-5EAD-3015-E33B-2C383D965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EF67F-80A9-D630-7FB1-F62BF4F8C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F1451-76FA-E0D3-0D73-8FE2F7D66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47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A1E71-3439-35A0-C96C-E6609ACA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9B6EB-EF52-CC63-2E0A-5E5E07D3C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39071-BB48-B14F-AC27-91D2AE5CC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B5D58-D506-200A-2F40-C0E87C404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8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B9B53-CFB9-6A34-76F2-67F43102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4B131-AA51-F910-6132-7A60549DB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6DD99-F6A0-B39D-8CC5-EF045AA96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D51E0-B5B5-2C2B-8FF2-35259DBA3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93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530BF-7C25-37AF-9BD5-3BA92CFA8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026E5-D9F5-85FA-85E1-3529CAEFC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0FC4A-667F-431A-9CA7-0C4F6EAFA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82DA2-6086-5583-CB46-53ACF7B1F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481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8EF05-BD56-A2E3-D526-EF03555A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9EA6E-ACEF-5E2F-A366-69FBBE6EE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34213-1581-7799-182F-3955FDB80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9483D-B187-B0E7-BE44-100B1631C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967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8AE9-B260-151C-D499-54E4AD30D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1620B-403D-D2FF-B707-1DEEC9E86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25433-3626-475E-B102-0D595775A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F635D-6357-5336-B0EF-C22C4B632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346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D723A-7A82-B080-39BA-F8F8B2D18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BBB5C-65B6-076A-3D82-8FE9537D1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8D2A8-F7F1-E668-B359-E510BE710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022A6-E0C6-0305-AF2A-F3D159BE2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40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BA0E-BC72-3DAB-2181-2841CEB9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2E10C-517B-333A-B0B2-392512B60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AD24E-F829-53EA-A7F6-BA1DCF58D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E0C9A-5002-4CA5-D66A-4AA95FAF3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422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D9AA3-1E40-6A69-D171-1A693E649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78D2C-CDF6-9772-A3AE-72205D81A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2B274-C89A-61BC-C0BF-F6FE4C8BB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F61A1-B87E-87ED-E217-BBE77FB11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079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8A389-B89A-DE24-62CD-5ABA087EA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E6433B-F103-D56C-F91A-488BE6519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744C1-FB07-BB17-2104-9A92DBCDB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030A2-D219-AE67-13BD-4EE8220B1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858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80BD7-C03B-6CA2-5A02-90947A21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4DE8B-CA44-8BB2-D7DC-E04534ABA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7AE5A-F902-7FE5-D191-C330AA051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5B95E-A0DB-3ECA-3AB1-D7F682D0E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249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BB87B-CDDD-FA9B-DE4E-FBFC6876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39390-A3D5-D52A-B880-C95EA8851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1C0A9-9767-F00F-3D90-1769C1489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91A19-28EE-CA66-C2EF-E17440B27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912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866E-5C15-DB92-1238-7C34058FA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91F60-7521-5FAA-BB43-7D9D704DC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7D388-7869-9F16-E71E-9B951E4F4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4D400-D60B-E874-2FEC-2F6F761E5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896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F9D4-AB9C-20ED-D838-13CD7AD3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267F6-92A2-73C2-7324-17A62A422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413BC-B80F-11E1-FA5E-74B0A5E8D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1AE69-8139-297E-AB08-EE9D41372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923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C3500-88CE-703D-1C04-81DE54DF9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97EE1-8ABF-AD07-E54F-793970D47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583E4-D71A-5BF8-0EF4-A44A966DE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A5293-59CC-2F80-4EB1-5997DD182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806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6BF07-5111-1F09-90ED-A45ADA2BB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674F5-ED4C-D9D1-726E-BEABE1088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EEEBD-CF01-A9A0-2056-E5C351D91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00F3A-4447-41D6-FB9D-D3DBF45AD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20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D5680-9E7D-C28A-327F-FD5B3FF9C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82283-DF75-EC9C-8650-AFC453241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407B5-7303-AAF3-CC6D-E31D37C16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CCF51-7B14-D7C9-C1B6-B339D16D7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2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C2D8C-8E10-56B6-6D96-1C39FD2A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884E6-357C-89E8-F319-12B49EE01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14D86-B739-8D44-1500-CDB0225A3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2747A-ECDB-B68C-E891-24A4C72B1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330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137A-9AAC-6E24-66F2-B510B049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09BA8-FC84-9119-8E1F-905A76E13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12343-A437-FEFC-79C0-241819DA2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1B853-96E6-D491-9668-30C2CD46D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466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2292-6B5D-D22A-02D8-0BD448AA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E4CB9-422B-D1A9-B900-517E3CA83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BC49F-415E-7AA7-42ED-1629CD0B1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E3953-4B5F-5D72-36D5-DABCCB772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935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27983-48DC-D9C8-AE36-1695FC4B4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75F9E-AA7F-0A5E-7864-ED628038E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8A0B4-9FFB-68AF-2807-EF25D4B14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483E5-1789-CD5C-DA03-594365037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222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AAAA8-03A6-F295-CE57-B6E32BE0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93666-572C-2C81-B105-FCEF953F8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FF2C2-BA73-DE2E-2021-CD771D26B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D19A9-C92D-95DA-69B4-B1ADC5FF5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246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972A-5244-A58E-DEB1-579BD45F3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71A3B-D773-F586-0258-D5F10F6D2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A6587-7DF2-2D4E-665D-7E13F0457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3DE25-B747-57FF-7143-C32EF86F0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289C57-55D7-40A4-A101-E74FAC7A09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6007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C0675-0802-81FE-FD59-AC73E361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412C6-9A99-FB34-BFA9-21F3CC223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F789E-C934-EE8B-BACD-DDD705E9B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6349A-95BE-04D4-1E17-AAC589AF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289C57-55D7-40A4-A101-E74FAC7A09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1201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11BD-D3FB-11D8-D98C-83AA5EB69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75743-AE68-1756-D320-06B435E07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10298-E16B-9471-1529-06F3AE1E2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6BE73-D96A-06DF-990E-FC336F94D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189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C501-C0EA-42FC-FE4F-0062555F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2FC8B-8A51-64E5-D50F-2E05D183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A38FD-A393-D6D4-531B-FBCAA8EC6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043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F055D-B4F0-AE8F-A43F-33F75B79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345A2-E99B-BC3D-06F8-5215F74B7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4138" y="731838"/>
            <a:ext cx="6500812" cy="36576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2D76C-B308-7822-1471-CC9E21228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26633-B900-5A96-8414-620E3502A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70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3AC6529-AD8D-E363-441D-C91C854D47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0409"/>
            <a:ext cx="10515599" cy="440622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2895600" cy="25193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1EBF9-6826-475B-8079-C1112899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26A3-DF54-47D2-8C3A-34FD43A1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125A-4493-4967-9146-841D0EF3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A1CF8B-3479-49A3-A30E-2F2ECE962075}"/>
              </a:ext>
            </a:extLst>
          </p:cNvPr>
          <p:cNvGrpSpPr/>
          <p:nvPr userDrawn="1"/>
        </p:nvGrpSpPr>
        <p:grpSpPr>
          <a:xfrm>
            <a:off x="6953250" y="-25401"/>
            <a:ext cx="5238750" cy="6902451"/>
            <a:chOff x="6953250" y="-25401"/>
            <a:chExt cx="5238750" cy="690245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FBD260-5143-4B12-B9F8-33E48D548909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/>
            <p:nvPr userDrawn="1"/>
          </p:nvCxnSpPr>
          <p:spPr>
            <a:xfrm flipH="1">
              <a:off x="6953250" y="-25401"/>
              <a:ext cx="3790950" cy="690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148840"/>
            <a:ext cx="4179570" cy="171553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1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03E9A-96BC-4283-A6E1-5948AEB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9C49-052B-4D3E-B227-1D78746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724A-95F0-41B6-A77E-EDD0672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r>
              <a:rPr lang="en-US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6" y="1613528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9" y="268256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0" y="4824430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4AA03A-263D-4B5F-B05B-7D6923A9A4D3}"/>
              </a:ext>
            </a:extLst>
          </p:cNvPr>
          <p:cNvGrpSpPr/>
          <p:nvPr userDrawn="1"/>
        </p:nvGrpSpPr>
        <p:grpSpPr>
          <a:xfrm>
            <a:off x="0" y="0"/>
            <a:ext cx="4762501" cy="5186363"/>
            <a:chOff x="0" y="0"/>
            <a:chExt cx="4762501" cy="518636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68C87F-B9C3-4DFF-8454-F3F52CE4346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Hoofdstuk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3696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5358" y="524639"/>
            <a:ext cx="8225308" cy="23876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5333" b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6788823"/>
            <a:ext cx="2821577" cy="200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3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 dirty="0"/>
              <a:t>Klik om de ondertitelstijl van het model te bewerken</a:t>
            </a:r>
            <a:endParaRPr lang="en-US" dirty="0"/>
          </a:p>
        </p:txBody>
      </p:sp>
      <p:pic>
        <p:nvPicPr>
          <p:cNvPr id="10" name="Afbeelding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5538" y="5031348"/>
            <a:ext cx="5261663" cy="195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97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xt page / 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Afbeelding 7" descr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142" y="5995546"/>
            <a:ext cx="1766770" cy="656823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Rechthoek 8"/>
          <p:cNvSpPr/>
          <p:nvPr/>
        </p:nvSpPr>
        <p:spPr>
          <a:xfrm>
            <a:off x="-1" y="-12552"/>
            <a:ext cx="12192001" cy="1180952"/>
          </a:xfrm>
          <a:prstGeom prst="rect">
            <a:avLst/>
          </a:prstGeom>
          <a:gradFill>
            <a:gsLst>
              <a:gs pos="0">
                <a:srgbClr val="91CAB7"/>
              </a:gs>
              <a:gs pos="100000">
                <a:srgbClr val="2E5E77"/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10000"/>
              </a:lnSpc>
              <a:defRPr sz="2400"/>
            </a:pPr>
            <a:endParaRPr/>
          </a:p>
        </p:txBody>
      </p:sp>
      <p:pic>
        <p:nvPicPr>
          <p:cNvPr id="38" name="Afbeelding 3" descr="Afbeelding 3"/>
          <p:cNvPicPr>
            <a:picLocks noChangeAspect="1"/>
          </p:cNvPicPr>
          <p:nvPr/>
        </p:nvPicPr>
        <p:blipFill>
          <a:blip r:embed="rId3">
            <a:alphaModFix amt="85000"/>
          </a:blip>
          <a:srcRect t="5928" b="72367"/>
          <a:stretch>
            <a:fillRect/>
          </a:stretch>
        </p:blipFill>
        <p:spPr>
          <a:xfrm>
            <a:off x="7072300" y="-21023"/>
            <a:ext cx="4436839" cy="1181434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iteltekst"/>
          <p:cNvSpPr txBox="1">
            <a:spLocks noGrp="1"/>
          </p:cNvSpPr>
          <p:nvPr>
            <p:ph type="title"/>
          </p:nvPr>
        </p:nvSpPr>
        <p:spPr>
          <a:xfrm>
            <a:off x="719999" y="1363579"/>
            <a:ext cx="10789140" cy="7930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E3B34"/>
                </a:solidFill>
                <a:latin typeface="Tenorite" panose="00000500000000000000" pitchFamily="2" charset="0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0" name="Hoofdtekst - niveau één…"/>
          <p:cNvSpPr txBox="1">
            <a:spLocks noGrp="1"/>
          </p:cNvSpPr>
          <p:nvPr>
            <p:ph type="body" idx="1"/>
          </p:nvPr>
        </p:nvSpPr>
        <p:spPr>
          <a:xfrm>
            <a:off x="719998" y="2219242"/>
            <a:ext cx="10789139" cy="38052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SzTx/>
              <a:buFontTx/>
              <a:buNone/>
              <a:defRPr sz="1800">
                <a:latin typeface="Tenorite" panose="00000500000000000000" pitchFamily="2" charset="0"/>
              </a:defRPr>
            </a:lvl1pPr>
            <a:lvl2pPr marL="0" indent="228600">
              <a:lnSpc>
                <a:spcPct val="100000"/>
              </a:lnSpc>
              <a:spcAft>
                <a:spcPts val="600"/>
              </a:spcAft>
              <a:buSzTx/>
              <a:buFontTx/>
              <a:buNone/>
              <a:defRPr sz="1800">
                <a:latin typeface="Tenorite" panose="00000500000000000000" pitchFamily="2" charset="0"/>
              </a:defRPr>
            </a:lvl2pPr>
            <a:lvl3pPr marL="0" indent="457200">
              <a:lnSpc>
                <a:spcPct val="100000"/>
              </a:lnSpc>
              <a:spcAft>
                <a:spcPts val="600"/>
              </a:spcAft>
              <a:buSzTx/>
              <a:buFontTx/>
              <a:buNone/>
              <a:defRPr sz="1800">
                <a:latin typeface="Tenorite" panose="00000500000000000000" pitchFamily="2" charset="0"/>
              </a:defRPr>
            </a:lvl3pPr>
            <a:lvl4pPr marL="0" indent="685800">
              <a:lnSpc>
                <a:spcPct val="100000"/>
              </a:lnSpc>
              <a:spcAft>
                <a:spcPts val="600"/>
              </a:spcAft>
              <a:buSzTx/>
              <a:buFontTx/>
              <a:buNone/>
              <a:defRPr sz="1800">
                <a:latin typeface="Tenorite" panose="00000500000000000000" pitchFamily="2" charset="0"/>
              </a:defRPr>
            </a:lvl4pPr>
            <a:lvl5pPr marL="0" indent="914400">
              <a:lnSpc>
                <a:spcPct val="100000"/>
              </a:lnSpc>
              <a:spcAft>
                <a:spcPts val="600"/>
              </a:spcAft>
              <a:buSzTx/>
              <a:buFontTx/>
              <a:buNone/>
              <a:defRPr sz="1800">
                <a:latin typeface="Tenorite" panose="00000500000000000000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dirty="0"/>
          </a:p>
        </p:txBody>
      </p:sp>
      <p:sp>
        <p:nvSpPr>
          <p:cNvPr id="41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719999" y="6293316"/>
            <a:ext cx="301909" cy="288824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6F73AA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723137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peningsdi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4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50" r:id="rId3"/>
    <p:sldLayoutId id="2147483651" r:id="rId4"/>
    <p:sldLayoutId id="2147483661" r:id="rId5"/>
    <p:sldLayoutId id="2147483666" r:id="rId6"/>
    <p:sldLayoutId id="2147483654" r:id="rId7"/>
    <p:sldLayoutId id="2147483663" r:id="rId8"/>
    <p:sldLayoutId id="2147483662" r:id="rId9"/>
    <p:sldLayoutId id="2147483668" r:id="rId10"/>
    <p:sldLayoutId id="2147483652" r:id="rId11"/>
    <p:sldLayoutId id="2147483653" r:id="rId12"/>
    <p:sldLayoutId id="2147483660" r:id="rId13"/>
    <p:sldLayoutId id="2147483664" r:id="rId14"/>
    <p:sldLayoutId id="2147483665" r:id="rId15"/>
    <p:sldLayoutId id="2147483669" r:id="rId16"/>
    <p:sldLayoutId id="2147483670" r:id="rId17"/>
    <p:sldLayoutId id="2147483671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ata-science/demystifying-pytorchs-weightedrandomsampler-by-example-a68aceccb452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jarten/early-stopping-pytorch/blob/main/early_stopping_pytorch/early_stopping.py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26069505-5F23-4E40-13EB-329B05127F9B}"/>
              </a:ext>
            </a:extLst>
          </p:cNvPr>
          <p:cNvSpPr txBox="1">
            <a:spLocks/>
          </p:cNvSpPr>
          <p:nvPr/>
        </p:nvSpPr>
        <p:spPr>
          <a:xfrm>
            <a:off x="475294" y="3429000"/>
            <a:ext cx="8225308" cy="3247571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bg1"/>
                </a:solidFill>
              </a:rPr>
              <a:t>Deep Learning and 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Natural Language Processing</a:t>
            </a:r>
          </a:p>
          <a:p>
            <a:endParaRPr lang="en-US" sz="3200" b="0" dirty="0">
              <a:solidFill>
                <a:schemeClr val="bg1"/>
              </a:solidFill>
            </a:endParaRPr>
          </a:p>
          <a:p>
            <a:r>
              <a:rPr lang="en-US" sz="3600" b="0" dirty="0">
                <a:solidFill>
                  <a:schemeClr val="bg1"/>
                </a:solidFill>
              </a:rPr>
              <a:t>Lesson 4 – </a:t>
            </a:r>
            <a:r>
              <a:rPr lang="en-US" sz="3600" dirty="0" err="1">
                <a:solidFill>
                  <a:schemeClr val="bg1"/>
                </a:solidFill>
              </a:rPr>
              <a:t>Pytorch</a:t>
            </a:r>
            <a:r>
              <a:rPr lang="en-US" sz="3600" dirty="0">
                <a:solidFill>
                  <a:schemeClr val="bg1"/>
                </a:solidFill>
              </a:rPr>
              <a:t> in Production</a:t>
            </a:r>
          </a:p>
          <a:p>
            <a:pPr algn="ctr"/>
            <a:endParaRPr lang="en-US" sz="3200" b="0" dirty="0">
              <a:solidFill>
                <a:schemeClr val="bg1"/>
              </a:solidFill>
            </a:endParaRPr>
          </a:p>
          <a:p>
            <a:pPr algn="ctr"/>
            <a:r>
              <a:rPr lang="en-US" sz="3200" b="0" dirty="0">
                <a:solidFill>
                  <a:schemeClr val="bg1"/>
                </a:solidFill>
              </a:rPr>
              <a:t>Pieter Blok</a:t>
            </a:r>
            <a:endParaRPr lang="LID4096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891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55E54-023A-A9AA-7211-1826BA66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F23A29-6E37-D100-23F3-816EC6F2D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Group formations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FA75E6-CDA3-E27B-8F46-37AF179A0606}"/>
              </a:ext>
            </a:extLst>
          </p:cNvPr>
          <p:cNvSpPr txBox="1">
            <a:spLocks/>
          </p:cNvSpPr>
          <p:nvPr/>
        </p:nvSpPr>
        <p:spPr>
          <a:xfrm>
            <a:off x="839837" y="2314512"/>
            <a:ext cx="9038089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4657B"/>
                </a:solidFill>
              </a:rPr>
              <a:t>Can the following students please subscribe themselves to one of the groups on Canvas: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Marit Bosch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Jasper Gregoire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Hieke van Heesch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Zonne </a:t>
            </a:r>
            <a:r>
              <a:rPr lang="en-US" dirty="0" err="1">
                <a:solidFill>
                  <a:srgbClr val="34657B"/>
                </a:solidFill>
              </a:rPr>
              <a:t>Heijnsbroek</a:t>
            </a: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Martijn van </a:t>
            </a:r>
            <a:r>
              <a:rPr lang="en-US" dirty="0" err="1">
                <a:solidFill>
                  <a:srgbClr val="34657B"/>
                </a:solidFill>
              </a:rPr>
              <a:t>Iterson</a:t>
            </a: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Danish Khan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Vasilis </a:t>
            </a:r>
            <a:r>
              <a:rPr lang="en-US" dirty="0" err="1">
                <a:solidFill>
                  <a:srgbClr val="34657B"/>
                </a:solidFill>
              </a:rPr>
              <a:t>Loridas</a:t>
            </a:r>
            <a:r>
              <a:rPr lang="en-US" dirty="0">
                <a:solidFill>
                  <a:srgbClr val="34657B"/>
                </a:solidFill>
              </a:rPr>
              <a:t> 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0D47955-A0A5-8505-5E13-58F8EF816F52}"/>
              </a:ext>
            </a:extLst>
          </p:cNvPr>
          <p:cNvSpPr txBox="1">
            <a:spLocks/>
          </p:cNvSpPr>
          <p:nvPr/>
        </p:nvSpPr>
        <p:spPr>
          <a:xfrm>
            <a:off x="4709995" y="2851923"/>
            <a:ext cx="3245805" cy="35729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Leopold Paris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4657B"/>
                </a:solidFill>
              </a:rPr>
              <a:t>Garoé</a:t>
            </a:r>
            <a:r>
              <a:rPr lang="en-US" dirty="0">
                <a:solidFill>
                  <a:srgbClr val="34657B"/>
                </a:solidFill>
              </a:rPr>
              <a:t> Roque Hernandez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Victor van Gerwen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Noa </a:t>
            </a:r>
            <a:r>
              <a:rPr lang="en-US" dirty="0" err="1">
                <a:solidFill>
                  <a:srgbClr val="34657B"/>
                </a:solidFill>
              </a:rPr>
              <a:t>Verrijt</a:t>
            </a: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Bora Şenel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50625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698C-6334-D792-5EC5-8E3E45711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76754D-0C73-848B-21E2-BF48AB526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 err="1"/>
              <a:t>Pytorch</a:t>
            </a:r>
            <a:r>
              <a:rPr lang="en-US" dirty="0"/>
              <a:t> concepts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F0310FE-2065-9F25-3D7B-7DFFFEAA916A}"/>
              </a:ext>
            </a:extLst>
          </p:cNvPr>
          <p:cNvSpPr txBox="1">
            <a:spLocks/>
          </p:cNvSpPr>
          <p:nvPr/>
        </p:nvSpPr>
        <p:spPr>
          <a:xfrm>
            <a:off x="839838" y="2314512"/>
            <a:ext cx="4636402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34657B"/>
                </a:solidFill>
              </a:rPr>
              <a:t>Tensors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34657B"/>
                </a:solidFill>
              </a:rPr>
              <a:t>Datasets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rgbClr val="34657B"/>
                </a:solidFill>
              </a:rPr>
              <a:t>Dataloaders</a:t>
            </a:r>
            <a:endParaRPr lang="en-US" dirty="0">
              <a:solidFill>
                <a:srgbClr val="34657B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34657B"/>
                </a:solidFill>
              </a:rPr>
              <a:t>Models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34657B"/>
                </a:solidFill>
              </a:rPr>
              <a:t>Layers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34657B"/>
                </a:solidFill>
              </a:rPr>
              <a:t>Loss functions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34657B"/>
                </a:solidFill>
              </a:rPr>
              <a:t>Optimization algorithms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7F5E2-28CE-A93E-47D1-A2B5462BE20F}"/>
              </a:ext>
            </a:extLst>
          </p:cNvPr>
          <p:cNvSpPr txBox="1">
            <a:spLocks/>
          </p:cNvSpPr>
          <p:nvPr/>
        </p:nvSpPr>
        <p:spPr>
          <a:xfrm>
            <a:off x="6234408" y="2320722"/>
            <a:ext cx="4636402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8"/>
            </a:pPr>
            <a:r>
              <a:rPr lang="en-US" dirty="0" err="1">
                <a:solidFill>
                  <a:srgbClr val="34657B"/>
                </a:solidFill>
              </a:rPr>
              <a:t>Autograd</a:t>
            </a:r>
            <a:endParaRPr lang="en-US" dirty="0">
              <a:solidFill>
                <a:srgbClr val="34657B"/>
              </a:solidFill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en-US" dirty="0">
                <a:solidFill>
                  <a:srgbClr val="34657B"/>
                </a:solidFill>
              </a:rPr>
              <a:t>Regularization 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dirty="0">
                <a:solidFill>
                  <a:srgbClr val="34657B"/>
                </a:solidFill>
              </a:rPr>
              <a:t>Visualization tools 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dirty="0">
                <a:solidFill>
                  <a:srgbClr val="34657B"/>
                </a:solidFill>
              </a:rPr>
              <a:t>Save and load models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dirty="0">
                <a:solidFill>
                  <a:srgbClr val="34657B"/>
                </a:solidFill>
              </a:rPr>
              <a:t>Reproducing results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dirty="0">
                <a:solidFill>
                  <a:srgbClr val="34657B"/>
                </a:solidFill>
              </a:rPr>
              <a:t>Putting everything together!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31105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A59A7-3638-0EA4-DD03-82319CAC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74FD11-C526-30FC-61F9-AE48DCC0F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tensors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D416A47-A8BD-DFCD-2C23-40094891ED7A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Tensors are fundamental data structures for storing and manipulating numerical data in deep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From a data perspective, a tensor is a multi-dimensional array: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Compared to NumPy arrays, </a:t>
            </a:r>
            <a:r>
              <a:rPr lang="en-US" dirty="0" err="1">
                <a:solidFill>
                  <a:srgbClr val="34657B"/>
                </a:solidFill>
              </a:rPr>
              <a:t>PyTorch</a:t>
            </a:r>
            <a:r>
              <a:rPr lang="en-US" dirty="0">
                <a:solidFill>
                  <a:srgbClr val="34657B"/>
                </a:solidFill>
              </a:rPr>
              <a:t> tensors have several advantages: </a:t>
            </a: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- ability to perform very fast operations on graphical processing units (GPUs)</a:t>
            </a: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- distribute operations on multiple devices or machines</a:t>
            </a: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- keep track of the computation graph</a:t>
            </a: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4B5CAC-287C-603B-E15A-8195F6783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844" y="2969396"/>
            <a:ext cx="6343289" cy="23591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F2ABF1-3FB5-04DE-CAB5-B0987BE1FE83}"/>
              </a:ext>
            </a:extLst>
          </p:cNvPr>
          <p:cNvSpPr txBox="1"/>
          <p:nvPr/>
        </p:nvSpPr>
        <p:spPr>
          <a:xfrm>
            <a:off x="7586133" y="3806398"/>
            <a:ext cx="4303013" cy="46165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7" tIns="121917" rIns="121917" bIns="121917" numCol="1" spcCol="38100" rtlCol="0" anchor="t">
            <a:spAutoFit/>
          </a:bodyPr>
          <a:lstStyle/>
          <a:p>
            <a:pPr marL="0" marR="0" lvl="0" indent="0" algn="l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D5E77"/>
                </a:solidFill>
                <a:effectLst/>
                <a:uLnTx/>
                <a:uFillTx/>
                <a:latin typeface="Tenorite" panose="00000500000000000000" pitchFamily="2" charset="0"/>
                <a:ea typeface="Calibri"/>
                <a:cs typeface="Calibri"/>
                <a:sym typeface="Calibri"/>
              </a:rPr>
              <a:t>Image from: Deep learning with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D5E77"/>
                </a:solidFill>
                <a:effectLst/>
                <a:uLnTx/>
                <a:uFillTx/>
                <a:latin typeface="Tenorite" panose="00000500000000000000" pitchFamily="2" charset="0"/>
                <a:ea typeface="Calibri"/>
                <a:cs typeface="Calibri"/>
                <a:sym typeface="Calibri"/>
              </a:rPr>
              <a:t>Pytorch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D5E77"/>
                </a:solidFill>
                <a:effectLst/>
                <a:uLnTx/>
                <a:uFillTx/>
                <a:latin typeface="Tenorite" panose="00000500000000000000" pitchFamily="2" charset="0"/>
                <a:ea typeface="Calibri"/>
                <a:cs typeface="Calibri"/>
                <a:sym typeface="Calibri"/>
              </a:rPr>
              <a:t> (Manning)</a:t>
            </a:r>
            <a:endParaRPr kumimoji="0" lang="en-NL" sz="1400" b="0" i="0" u="none" strike="noStrike" kern="0" cap="none" spc="0" normalizeH="0" baseline="0" noProof="0" dirty="0">
              <a:ln>
                <a:noFill/>
              </a:ln>
              <a:solidFill>
                <a:srgbClr val="2D5E77"/>
              </a:solidFill>
              <a:effectLst/>
              <a:uLnTx/>
              <a:uFillTx/>
              <a:latin typeface="Tenorite" panose="00000500000000000000" pitchFamily="2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178015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F5E6C-3572-69D4-1D37-9BB865EF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B5ACCB-B35E-7364-B68D-81E03F201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 err="1"/>
              <a:t>Numpy</a:t>
            </a:r>
            <a:r>
              <a:rPr lang="en-US" dirty="0"/>
              <a:t> arrays vs </a:t>
            </a:r>
            <a:r>
              <a:rPr lang="en-US" dirty="0" err="1"/>
              <a:t>pytorch</a:t>
            </a:r>
            <a:r>
              <a:rPr lang="en-US" dirty="0"/>
              <a:t> tensors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B3353-F0D9-42E8-B8B0-22F213969EE4}"/>
              </a:ext>
            </a:extLst>
          </p:cNvPr>
          <p:cNvSpPr txBox="1"/>
          <p:nvPr/>
        </p:nvSpPr>
        <p:spPr>
          <a:xfrm>
            <a:off x="87884" y="2101197"/>
            <a:ext cx="5816205" cy="4618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np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array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Consolas" panose="020B0609020204030204" pitchFamily="49" charset="0"/>
              </a:rPr>
              <a:t>new_array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np.array</a:t>
            </a:r>
            <a:r>
              <a:rPr lang="en-US" dirty="0">
                <a:latin typeface="Consolas" panose="020B0609020204030204" pitchFamily="49" charset="0"/>
              </a:rPr>
              <a:t>([[1,2], [3,4]])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2x3 array with zeros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Consolas" panose="020B0609020204030204" pitchFamily="49" charset="0"/>
              </a:rPr>
              <a:t>zero_array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np.zeros</a:t>
            </a:r>
            <a:r>
              <a:rPr lang="en-US" dirty="0">
                <a:latin typeface="Consolas" panose="020B0609020204030204" pitchFamily="49" charset="0"/>
              </a:rPr>
              <a:t>([2,3])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2x3 array with ones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Consolas" panose="020B0609020204030204" pitchFamily="49" charset="0"/>
              </a:rPr>
              <a:t>ones_array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np.ones</a:t>
            </a:r>
            <a:r>
              <a:rPr lang="en-US" dirty="0">
                <a:latin typeface="Consolas" panose="020B0609020204030204" pitchFamily="49" charset="0"/>
              </a:rPr>
              <a:t>([2,3])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2x3 array with random values(0-1)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rand_array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np.random.rand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2x3 array with mean 0 and var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randn_array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np.random.randn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C1CC5F-D0A2-31E2-C961-6F83E8ADEB46}"/>
              </a:ext>
            </a:extLst>
          </p:cNvPr>
          <p:cNvSpPr txBox="1"/>
          <p:nvPr/>
        </p:nvSpPr>
        <p:spPr>
          <a:xfrm>
            <a:off x="6096000" y="2101197"/>
            <a:ext cx="6016983" cy="4618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torch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pytorch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tensor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Consolas" panose="020B0609020204030204" pitchFamily="49" charset="0"/>
              </a:rPr>
              <a:t>new_tensor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torch.Tensor</a:t>
            </a:r>
            <a:r>
              <a:rPr lang="en-US" dirty="0">
                <a:latin typeface="Consolas" panose="020B0609020204030204" pitchFamily="49" charset="0"/>
              </a:rPr>
              <a:t>([[1,2], [3,4]])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2x3 tensor with zeros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Consolas" panose="020B0609020204030204" pitchFamily="49" charset="0"/>
              </a:rPr>
              <a:t>zero_tensor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torch.zeros</a:t>
            </a:r>
            <a:r>
              <a:rPr lang="en-US" dirty="0">
                <a:latin typeface="Consolas" panose="020B0609020204030204" pitchFamily="49" charset="0"/>
              </a:rPr>
              <a:t>([2,3])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2x3 tensor with ones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Consolas" panose="020B0609020204030204" pitchFamily="49" charset="0"/>
              </a:rPr>
              <a:t>ones_tensor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torch.ones</a:t>
            </a:r>
            <a:r>
              <a:rPr lang="en-US" dirty="0">
                <a:latin typeface="Consolas" panose="020B0609020204030204" pitchFamily="49" charset="0"/>
              </a:rPr>
              <a:t>([2,3])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2x3 tensor with random values(0-1)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rand_tensor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torch.rand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2x3 tensor with mean 0 and var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randn_tensor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tensor.randn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83197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AF54C-4D34-1804-150A-5C88EB44D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69B897-DEEB-CE3B-2104-81FE31F9A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Tensors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EB4AB5E-19FC-8F48-E249-A2C3818D6B76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In the previous slide, </a:t>
            </a:r>
            <a:r>
              <a:rPr lang="en-US" b="1" dirty="0" err="1">
                <a:solidFill>
                  <a:srgbClr val="34657B"/>
                </a:solidFill>
              </a:rPr>
              <a:t>torch.Tensor</a:t>
            </a:r>
            <a:r>
              <a:rPr lang="en-US" b="1" dirty="0">
                <a:solidFill>
                  <a:srgbClr val="34657B"/>
                </a:solidFill>
              </a:rPr>
              <a:t> </a:t>
            </a:r>
            <a:r>
              <a:rPr lang="en-US" dirty="0">
                <a:solidFill>
                  <a:srgbClr val="34657B"/>
                </a:solidFill>
              </a:rPr>
              <a:t>was used, which is an alias for the default tensor type: </a:t>
            </a:r>
            <a:r>
              <a:rPr lang="en-US" dirty="0" err="1">
                <a:solidFill>
                  <a:srgbClr val="34657B"/>
                </a:solidFill>
              </a:rPr>
              <a:t>torch.FloatTensor</a:t>
            </a:r>
            <a:r>
              <a:rPr lang="en-US" dirty="0">
                <a:solidFill>
                  <a:srgbClr val="34657B"/>
                </a:solidFill>
              </a:rPr>
              <a:t>. Its default data type is </a:t>
            </a:r>
            <a:r>
              <a:rPr lang="en-US" b="1" dirty="0">
                <a:solidFill>
                  <a:srgbClr val="34657B"/>
                </a:solidFill>
              </a:rPr>
              <a:t>torch.float32 </a:t>
            </a:r>
            <a:r>
              <a:rPr lang="en-US" dirty="0">
                <a:solidFill>
                  <a:srgbClr val="34657B"/>
                </a:solidFill>
              </a:rPr>
              <a:t>(32-bit floating-point)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In future use, it is recommended to use </a:t>
            </a:r>
            <a:r>
              <a:rPr lang="en-US" b="1" dirty="0" err="1">
                <a:solidFill>
                  <a:srgbClr val="34657B"/>
                </a:solidFill>
              </a:rPr>
              <a:t>torch.tensor</a:t>
            </a:r>
            <a:r>
              <a:rPr lang="en-US" b="1" dirty="0">
                <a:solidFill>
                  <a:srgbClr val="34657B"/>
                </a:solidFill>
              </a:rPr>
              <a:t> </a:t>
            </a:r>
            <a:r>
              <a:rPr lang="en-US" dirty="0">
                <a:solidFill>
                  <a:srgbClr val="34657B"/>
                </a:solidFill>
              </a:rPr>
              <a:t>instead, because this allows you to specifically set the </a:t>
            </a:r>
            <a:r>
              <a:rPr lang="en-US" b="1" dirty="0">
                <a:solidFill>
                  <a:srgbClr val="34657B"/>
                </a:solidFill>
              </a:rPr>
              <a:t>data type </a:t>
            </a:r>
            <a:r>
              <a:rPr lang="en-US" dirty="0">
                <a:solidFill>
                  <a:srgbClr val="34657B"/>
                </a:solidFill>
              </a:rPr>
              <a:t>and </a:t>
            </a:r>
            <a:r>
              <a:rPr lang="en-US" b="1" dirty="0">
                <a:solidFill>
                  <a:srgbClr val="34657B"/>
                </a:solidFill>
              </a:rPr>
              <a:t>device </a:t>
            </a:r>
            <a:r>
              <a:rPr lang="en-US" dirty="0">
                <a:solidFill>
                  <a:srgbClr val="34657B"/>
                </a:solidFill>
              </a:rPr>
              <a:t>(thereby you never get confused what is happening):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6523E-2B1E-6104-8A6A-23F4436AE19B}"/>
              </a:ext>
            </a:extLst>
          </p:cNvPr>
          <p:cNvSpPr txBox="1"/>
          <p:nvPr/>
        </p:nvSpPr>
        <p:spPr>
          <a:xfrm>
            <a:off x="1146182" y="3862177"/>
            <a:ext cx="98996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pytorch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tensor, and specify the data type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torch.tensor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]],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=torch.float32)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set the device to GPU, if available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device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torch.device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("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cuda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" if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torch.cuda.is_available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else "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cpu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send the tensor to the GPU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new_tensor.to(device)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8209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BF5BD-E1F7-CC02-8913-573F2D06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723555-9FFF-FA72-AB76-6B1473AEB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Tensor operations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5567175-1851-57E9-18CF-5CCFE026CFA0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Like </a:t>
            </a:r>
            <a:r>
              <a:rPr lang="en-US" dirty="0" err="1">
                <a:solidFill>
                  <a:srgbClr val="34657B"/>
                </a:solidFill>
              </a:rPr>
              <a:t>Numpy</a:t>
            </a:r>
            <a:r>
              <a:rPr lang="en-US" dirty="0">
                <a:solidFill>
                  <a:srgbClr val="34657B"/>
                </a:solidFill>
              </a:rPr>
              <a:t>, </a:t>
            </a:r>
            <a:r>
              <a:rPr lang="en-US" dirty="0" err="1">
                <a:solidFill>
                  <a:srgbClr val="34657B"/>
                </a:solidFill>
              </a:rPr>
              <a:t>Pytorch</a:t>
            </a:r>
            <a:r>
              <a:rPr lang="en-US" dirty="0">
                <a:solidFill>
                  <a:srgbClr val="34657B"/>
                </a:solidFill>
              </a:rPr>
              <a:t> has hundreds of underlying operations that can be directly applied to tensors, like: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0D670-BA8A-0E0E-CF02-0668B18611E0}"/>
              </a:ext>
            </a:extLst>
          </p:cNvPr>
          <p:cNvSpPr txBox="1"/>
          <p:nvPr/>
        </p:nvSpPr>
        <p:spPr>
          <a:xfrm>
            <a:off x="839838" y="2397933"/>
            <a:ext cx="98996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check the data type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new_tensor.dtype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check the device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new_tensor.device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check if tensor or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array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new_tensor.type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accessing tensor value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new_tensor.data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indexing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[index]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797C3-462C-5BE0-F03D-3A93FAE34E30}"/>
              </a:ext>
            </a:extLst>
          </p:cNvPr>
          <p:cNvSpPr txBox="1"/>
          <p:nvPr/>
        </p:nvSpPr>
        <p:spPr>
          <a:xfrm>
            <a:off x="5853424" y="2408266"/>
            <a:ext cx="5993280" cy="33718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reshape the tensor from 2x2 to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reshaped_tensor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new_tensor.reshape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(4)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swaps two dimensions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transp_tensor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new_tensor.transpose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(0,1)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adds a new dimension to a tensor at dim=0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dim_tensor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new_tensor.unsqueeze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(0)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remove a dimension of a tensor at dim=0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dim_tensor.squeeze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163391-AB46-0D3A-E9A2-7D326912882D}"/>
              </a:ext>
            </a:extLst>
          </p:cNvPr>
          <p:cNvSpPr txBox="1"/>
          <p:nvPr/>
        </p:nvSpPr>
        <p:spPr>
          <a:xfrm>
            <a:off x="5853424" y="5780086"/>
            <a:ext cx="5993280" cy="878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flattens a tensor (common in CNN models)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Consolas" panose="020B0609020204030204" pitchFamily="49" charset="0"/>
              </a:rPr>
              <a:t>new_tensor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new_tensor.flatten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293206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F8C00-117B-C2B8-F156-BBC3E288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21B71B-9F15-ACC8-6431-3B13FD67C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Conversions and operations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E8FCF34-CE3D-D377-78AF-052D30B8B89C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It’s also possible to directly convert a </a:t>
            </a:r>
            <a:r>
              <a:rPr lang="en-US" dirty="0" err="1">
                <a:solidFill>
                  <a:srgbClr val="34657B"/>
                </a:solidFill>
              </a:rPr>
              <a:t>Numpy</a:t>
            </a:r>
            <a:r>
              <a:rPr lang="en-US" dirty="0">
                <a:solidFill>
                  <a:srgbClr val="34657B"/>
                </a:solidFill>
              </a:rPr>
              <a:t> array to a </a:t>
            </a:r>
            <a:r>
              <a:rPr lang="en-US" dirty="0" err="1">
                <a:solidFill>
                  <a:srgbClr val="34657B"/>
                </a:solidFill>
              </a:rPr>
              <a:t>Pytorch</a:t>
            </a:r>
            <a:r>
              <a:rPr lang="en-US" dirty="0">
                <a:solidFill>
                  <a:srgbClr val="34657B"/>
                </a:solidFill>
              </a:rPr>
              <a:t> tensor and vice versa: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FAAD5-AF13-F90C-87E1-AA38D716C5C5}"/>
              </a:ext>
            </a:extLst>
          </p:cNvPr>
          <p:cNvSpPr txBox="1"/>
          <p:nvPr/>
        </p:nvSpPr>
        <p:spPr>
          <a:xfrm>
            <a:off x="1146182" y="2473643"/>
            <a:ext cx="10700522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convert a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array to a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pytorch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tensor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torch.from_numpy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convert a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pytorch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tensor to a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array, when on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cpu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new_tensor.numpy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convert a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pytorch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tensor to a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array, when on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gpu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new_tensor.cpu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convert a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pytorch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tensor to a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array, when on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gpu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and on computation graph (e.g.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requires_grad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=True)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new_tensor.cpu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().detach().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2203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802A9-7E8A-F2D8-405B-FC6B5572F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BE8FE-2597-14C3-8B8C-36141801B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Tensor dataset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FF6249D-40D1-5F4E-9509-C8AADEC3933A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FC9E7-5257-29E8-EC5E-636F740CC972}"/>
              </a:ext>
            </a:extLst>
          </p:cNvPr>
          <p:cNvSpPr txBox="1">
            <a:spLocks/>
          </p:cNvSpPr>
          <p:nvPr/>
        </p:nvSpPr>
        <p:spPr>
          <a:xfrm>
            <a:off x="916038" y="2094957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In </a:t>
            </a:r>
            <a:r>
              <a:rPr lang="en-US" dirty="0" err="1">
                <a:solidFill>
                  <a:srgbClr val="34657B"/>
                </a:solidFill>
              </a:rPr>
              <a:t>PyTorch</a:t>
            </a:r>
            <a:r>
              <a:rPr lang="en-US" dirty="0">
                <a:solidFill>
                  <a:srgbClr val="34657B"/>
                </a:solidFill>
              </a:rPr>
              <a:t>, datasets can be loaded and managed with classes from </a:t>
            </a:r>
            <a:r>
              <a:rPr lang="en-US" b="1" dirty="0" err="1">
                <a:solidFill>
                  <a:srgbClr val="34657B"/>
                </a:solidFill>
              </a:rPr>
              <a:t>torch.utils.data</a:t>
            </a:r>
            <a:endParaRPr lang="en-US" b="1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4657B"/>
                </a:solidFill>
              </a:rPr>
              <a:t>TensorDataset</a:t>
            </a:r>
            <a:r>
              <a:rPr lang="en-US" dirty="0">
                <a:solidFill>
                  <a:srgbClr val="34657B"/>
                </a:solidFill>
              </a:rPr>
              <a:t> is a predefined dataset that loads the data and the targets (both tensors)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It is used for small datasets that don’t need batching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60C98A-760B-AA47-B274-3E4ABD59BA09}"/>
              </a:ext>
            </a:extLst>
          </p:cNvPr>
          <p:cNvSpPr txBox="1"/>
          <p:nvPr/>
        </p:nvSpPr>
        <p:spPr>
          <a:xfrm>
            <a:off x="1184282" y="3409980"/>
            <a:ext cx="10700522" cy="3371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dirty="0">
                <a:latin typeface="Consolas" panose="020B0609020204030204" pitchFamily="49" charset="0"/>
              </a:rPr>
              <a:t>torch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torch.utils.data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</a:rPr>
              <a:t>TensorDataset</a:t>
            </a: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add data as tensor</a:t>
            </a: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data = </a:t>
            </a:r>
            <a:r>
              <a:rPr lang="en-US" dirty="0" err="1">
                <a:latin typeface="Consolas" panose="020B0609020204030204" pitchFamily="49" charset="0"/>
              </a:rPr>
              <a:t>torch.tensor</a:t>
            </a:r>
            <a:r>
              <a:rPr lang="en-US" dirty="0">
                <a:latin typeface="Consolas" panose="020B0609020204030204" pitchFamily="49" charset="0"/>
              </a:rPr>
              <a:t>([[1, 2], [3, 4], [5, 6]])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add targets as tensor</a:t>
            </a: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targets = </a:t>
            </a:r>
            <a:r>
              <a:rPr lang="en-US" dirty="0" err="1">
                <a:latin typeface="Consolas" panose="020B0609020204030204" pitchFamily="49" charset="0"/>
              </a:rPr>
              <a:t>torch.tensor</a:t>
            </a:r>
            <a:r>
              <a:rPr lang="en-US" dirty="0">
                <a:latin typeface="Consolas" panose="020B0609020204030204" pitchFamily="49" charset="0"/>
              </a:rPr>
              <a:t>([0, 1, 0])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TensorDataset</a:t>
            </a: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dataset = </a:t>
            </a:r>
            <a:r>
              <a:rPr lang="en-US" dirty="0" err="1">
                <a:latin typeface="Consolas" panose="020B0609020204030204" pitchFamily="49" charset="0"/>
              </a:rPr>
              <a:t>TensorDataset</a:t>
            </a:r>
            <a:r>
              <a:rPr lang="en-US" dirty="0">
                <a:latin typeface="Consolas" panose="020B0609020204030204" pitchFamily="49" charset="0"/>
              </a:rPr>
              <a:t>(data, targets)</a:t>
            </a:r>
          </a:p>
        </p:txBody>
      </p:sp>
    </p:spTree>
    <p:extLst>
      <p:ext uri="{BB962C8B-B14F-4D97-AF65-F5344CB8AC3E}">
        <p14:creationId xmlns:p14="http://schemas.microsoft.com/office/powerpoint/2010/main" val="301035173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F98AC-23C8-4E19-7097-EF62C732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A530D2-949D-40C1-EBF1-A1B412D97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Customized datasets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B136B73-48D0-C8E2-75FE-40FB8089C122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04A41-0A31-5E48-8C3B-B9D7B71CE3C6}"/>
              </a:ext>
            </a:extLst>
          </p:cNvPr>
          <p:cNvSpPr txBox="1">
            <a:spLocks/>
          </p:cNvSpPr>
          <p:nvPr/>
        </p:nvSpPr>
        <p:spPr>
          <a:xfrm>
            <a:off x="916038" y="2094956"/>
            <a:ext cx="11006866" cy="468684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A more versatile class that allows batching of data is the </a:t>
            </a:r>
            <a:r>
              <a:rPr lang="en-US" b="1" dirty="0">
                <a:solidFill>
                  <a:srgbClr val="34657B"/>
                </a:solidFill>
              </a:rPr>
              <a:t>Dataset</a:t>
            </a:r>
            <a:r>
              <a:rPr lang="en-US" dirty="0">
                <a:solidFill>
                  <a:srgbClr val="34657B"/>
                </a:solidFill>
              </a:rPr>
              <a:t> class from </a:t>
            </a:r>
            <a:r>
              <a:rPr lang="en-US" b="1" dirty="0" err="1">
                <a:solidFill>
                  <a:srgbClr val="34657B"/>
                </a:solidFill>
              </a:rPr>
              <a:t>torch.utils.data</a:t>
            </a: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Custom datasets can be created by </a:t>
            </a:r>
            <a:r>
              <a:rPr lang="en-US" dirty="0">
                <a:solidFill>
                  <a:srgbClr val="3E6D82"/>
                </a:solidFill>
              </a:rPr>
              <a:t>inheriting</a:t>
            </a:r>
            <a:r>
              <a:rPr lang="en-US" dirty="0">
                <a:solidFill>
                  <a:srgbClr val="34657B"/>
                </a:solidFill>
              </a:rPr>
              <a:t> from this class. 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r>
              <a:rPr lang="en-US" dirty="0">
                <a:solidFill>
                  <a:srgbClr val="34657B"/>
                </a:solidFill>
              </a:rPr>
              <a:t>A custom dataset should consist of the following three functions: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__(self): 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dirty="0">
                <a:solidFill>
                  <a:srgbClr val="3E6D82"/>
                </a:solidFill>
                <a:latin typeface="+mn-lt"/>
              </a:rPr>
              <a:t>pre</a:t>
            </a:r>
            <a:r>
              <a:rPr lang="en-US" b="0" dirty="0">
                <a:solidFill>
                  <a:srgbClr val="3E6D82"/>
                </a:solidFill>
                <a:effectLst/>
                <a:latin typeface="+mn-lt"/>
              </a:rPr>
              <a:t>pares and initializes the dataset. Static data preprocessing can happen here (e.g., normalizing / standardizing the entire dataset)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__(self): 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dirty="0">
                <a:solidFill>
                  <a:srgbClr val="3E6D82"/>
                </a:solidFill>
                <a:latin typeface="+mn-lt"/>
              </a:rPr>
              <a:t>returns the number of samples in the dataset, which is needed for </a:t>
            </a:r>
            <a:r>
              <a:rPr lang="en-US" dirty="0" err="1">
                <a:solidFill>
                  <a:srgbClr val="3E6D82"/>
                </a:solidFill>
                <a:latin typeface="+mn-lt"/>
              </a:rPr>
              <a:t>Pytorch</a:t>
            </a:r>
            <a:r>
              <a:rPr lang="en-US" dirty="0">
                <a:solidFill>
                  <a:srgbClr val="3E6D82"/>
                </a:solidFill>
                <a:latin typeface="+mn-lt"/>
              </a:rPr>
              <a:t> to do the iteration and batching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getitem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__(self, index):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E6D82"/>
                </a:solidFill>
                <a:effectLst/>
                <a:latin typeface="+mn-lt"/>
              </a:rPr>
              <a:t>Needed for </a:t>
            </a:r>
            <a:r>
              <a:rPr lang="en-US" b="0" dirty="0" err="1">
                <a:solidFill>
                  <a:srgbClr val="3E6D82"/>
                </a:solidFill>
                <a:effectLst/>
                <a:latin typeface="+mn-lt"/>
              </a:rPr>
              <a:t>Pytorch’s</a:t>
            </a:r>
            <a:r>
              <a:rPr lang="en-US" b="0" dirty="0">
                <a:solidFill>
                  <a:srgbClr val="3E6D82"/>
                </a:solidFill>
                <a:effectLst/>
                <a:latin typeface="+mn-lt"/>
              </a:rPr>
              <a:t> </a:t>
            </a:r>
            <a:r>
              <a:rPr lang="en-US" b="0" dirty="0" err="1">
                <a:solidFill>
                  <a:srgbClr val="3E6D82"/>
                </a:solidFill>
                <a:effectLst/>
                <a:latin typeface="+mn-lt"/>
              </a:rPr>
              <a:t>Dataloader</a:t>
            </a:r>
            <a:r>
              <a:rPr lang="en-US" b="0" dirty="0">
                <a:solidFill>
                  <a:srgbClr val="3E6D82"/>
                </a:solidFill>
                <a:effectLst/>
                <a:latin typeface="+mn-lt"/>
              </a:rPr>
              <a:t> (when batching). It retrieves a data sample and its corresponding label by index and apply transformations if necessary.</a:t>
            </a:r>
            <a:r>
              <a:rPr lang="en-US" dirty="0">
                <a:solidFill>
                  <a:srgbClr val="3E6D82"/>
                </a:solidFill>
                <a:latin typeface="+mn-lt"/>
              </a:rPr>
              <a:t> Especially handy when you want different random transformations per epoch.  </a:t>
            </a:r>
            <a:r>
              <a:rPr lang="en-US" b="0" dirty="0">
                <a:solidFill>
                  <a:srgbClr val="3E6D82"/>
                </a:solidFill>
                <a:effectLst/>
                <a:latin typeface="+mn-lt"/>
              </a:rPr>
              <a:t> 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97793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382BD-7720-834A-4084-F91927B57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15D6A7-A360-1B13-FECC-914E4E69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81" y="1296355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Customized datasets - regression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0B60551-97FC-6424-EDE8-66E7730D53B9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85FEA-058A-5FE4-7E8E-7DE708348FBA}"/>
              </a:ext>
            </a:extLst>
          </p:cNvPr>
          <p:cNvSpPr txBox="1"/>
          <p:nvPr/>
        </p:nvSpPr>
        <p:spPr>
          <a:xfrm>
            <a:off x="9093189" y="1746237"/>
            <a:ext cx="317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E6D82"/>
                </a:solidFill>
              </a:rPr>
              <a:t>data.csv</a:t>
            </a:r>
            <a:endParaRPr lang="en-NL" dirty="0">
              <a:solidFill>
                <a:srgbClr val="3E6D8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E741DB-1C36-7363-79B1-B6D92BEB8F90}"/>
              </a:ext>
            </a:extLst>
          </p:cNvPr>
          <p:cNvSpPr txBox="1"/>
          <p:nvPr/>
        </p:nvSpPr>
        <p:spPr>
          <a:xfrm>
            <a:off x="322631" y="2669054"/>
            <a:ext cx="89848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pandas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pd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torch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torch.utils.data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Dataset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(Dataset):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super().__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pd.read_csv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'split'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== split]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__(self, index):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row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.data.iloc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[index]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features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torch.tensor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([row[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'feature1'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 row[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'feature2'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]],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=torch.float32)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target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torch.tensor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(row[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'target'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=torch.float32).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unsqueeze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features, target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B28133B-834B-0DB6-A9CA-37A8910B7E5A}"/>
              </a:ext>
            </a:extLst>
          </p:cNvPr>
          <p:cNvSpPr txBox="1">
            <a:spLocks/>
          </p:cNvSpPr>
          <p:nvPr/>
        </p:nvSpPr>
        <p:spPr>
          <a:xfrm>
            <a:off x="219981" y="2128464"/>
            <a:ext cx="11006866" cy="4222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4657B"/>
                </a:solidFill>
              </a:rPr>
              <a:t>It can be customized to your specific data wishes:</a:t>
            </a:r>
            <a:endParaRPr lang="en-US" b="0" dirty="0">
              <a:solidFill>
                <a:srgbClr val="3E6D82"/>
              </a:solidFill>
              <a:effectLst/>
              <a:latin typeface="+mn-lt"/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78075-11FF-5884-CAC1-EFF2FF9C1F17}"/>
              </a:ext>
            </a:extLst>
          </p:cNvPr>
          <p:cNvSpPr txBox="1"/>
          <p:nvPr/>
        </p:nvSpPr>
        <p:spPr>
          <a:xfrm>
            <a:off x="6283039" y="3756648"/>
            <a:ext cx="5843648" cy="177997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usage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'data.csv'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split=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'train'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split=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'validation'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split=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'test'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141FFF-A40C-C909-3F3D-F70F16DCC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7513" y="2089408"/>
            <a:ext cx="2747211" cy="15378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BBF209-7C9E-FA3D-B309-1B35220DBDB4}"/>
              </a:ext>
            </a:extLst>
          </p:cNvPr>
          <p:cNvSpPr txBox="1"/>
          <p:nvPr/>
        </p:nvSpPr>
        <p:spPr>
          <a:xfrm>
            <a:off x="6812716" y="6135499"/>
            <a:ext cx="1260504" cy="221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8E7A17-BA74-1663-69AE-0DADC61B82D5}"/>
              </a:ext>
            </a:extLst>
          </p:cNvPr>
          <p:cNvSpPr txBox="1"/>
          <p:nvPr/>
        </p:nvSpPr>
        <p:spPr>
          <a:xfrm>
            <a:off x="8080429" y="6124348"/>
            <a:ext cx="4057409" cy="646331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E6D82"/>
                </a:solidFill>
              </a:rPr>
              <a:t>Needed to create similar ‘nested’ shapes for batching:</a:t>
            </a:r>
          </a:p>
          <a:p>
            <a:r>
              <a:rPr lang="en-US" sz="1200" dirty="0" err="1">
                <a:solidFill>
                  <a:srgbClr val="3E6D82"/>
                </a:solidFill>
              </a:rPr>
              <a:t>features.shape</a:t>
            </a:r>
            <a:r>
              <a:rPr lang="en-US" sz="1200" dirty="0">
                <a:solidFill>
                  <a:srgbClr val="3E6D82"/>
                </a:solidFill>
              </a:rPr>
              <a:t> = </a:t>
            </a:r>
            <a:r>
              <a:rPr lang="en-US" sz="1200" dirty="0" err="1">
                <a:solidFill>
                  <a:srgbClr val="3E6D82"/>
                </a:solidFill>
              </a:rPr>
              <a:t>torch.Size</a:t>
            </a:r>
            <a:r>
              <a:rPr lang="en-US" sz="1200" dirty="0">
                <a:solidFill>
                  <a:srgbClr val="3E6D82"/>
                </a:solidFill>
              </a:rPr>
              <a:t>([2])</a:t>
            </a:r>
          </a:p>
          <a:p>
            <a:r>
              <a:rPr lang="en-US" sz="1200" dirty="0" err="1">
                <a:solidFill>
                  <a:srgbClr val="3E6D82"/>
                </a:solidFill>
              </a:rPr>
              <a:t>target.shape</a:t>
            </a:r>
            <a:r>
              <a:rPr lang="en-US" sz="1200" dirty="0">
                <a:solidFill>
                  <a:srgbClr val="3E6D82"/>
                </a:solidFill>
              </a:rPr>
              <a:t> = </a:t>
            </a:r>
            <a:r>
              <a:rPr lang="en-US" sz="1200" dirty="0" err="1">
                <a:solidFill>
                  <a:srgbClr val="3E6D82"/>
                </a:solidFill>
              </a:rPr>
              <a:t>torch.Size</a:t>
            </a:r>
            <a:r>
              <a:rPr lang="en-US" sz="1200" dirty="0">
                <a:solidFill>
                  <a:srgbClr val="3E6D82"/>
                </a:solidFill>
              </a:rPr>
              <a:t>([1])</a:t>
            </a:r>
            <a:endParaRPr lang="en-NL" sz="1200" dirty="0">
              <a:solidFill>
                <a:srgbClr val="3E6D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5758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A1A57-3A43-79F6-EA36-F2BD8A17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5D5A97-59FA-A3D8-56FE-4C29C9F2D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81" y="1296355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Customized datasets - classification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ECBF89A-9104-082C-FF98-A0B1A77508DF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AD8ED8-87AE-1AD3-4766-9BE79588F59E}"/>
              </a:ext>
            </a:extLst>
          </p:cNvPr>
          <p:cNvSpPr txBox="1"/>
          <p:nvPr/>
        </p:nvSpPr>
        <p:spPr>
          <a:xfrm>
            <a:off x="9016142" y="1790624"/>
            <a:ext cx="317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E6D82"/>
                </a:solidFill>
              </a:rPr>
              <a:t>data.csv</a:t>
            </a:r>
            <a:endParaRPr lang="en-NL" dirty="0">
              <a:solidFill>
                <a:srgbClr val="3E6D8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30D4B9-E467-78E8-A2B7-453AE22F943A}"/>
              </a:ext>
            </a:extLst>
          </p:cNvPr>
          <p:cNvSpPr txBox="1"/>
          <p:nvPr/>
        </p:nvSpPr>
        <p:spPr>
          <a:xfrm>
            <a:off x="309217" y="2589812"/>
            <a:ext cx="89848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pandas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pd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torch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torch.utils.data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Dataset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(Dataset):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super().__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pd.read_csv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'split'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== split]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__(self, index):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row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.data.iloc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[index]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features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torch.tensor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([row[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'feature1'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 row[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'feature2'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]],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=torch.float32)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target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torch.tensor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(row[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'target'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torch.long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features, target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5C2BDFB-21F3-C10C-707B-0F8788296A90}"/>
              </a:ext>
            </a:extLst>
          </p:cNvPr>
          <p:cNvSpPr txBox="1">
            <a:spLocks/>
          </p:cNvSpPr>
          <p:nvPr/>
        </p:nvSpPr>
        <p:spPr>
          <a:xfrm>
            <a:off x="219981" y="2128464"/>
            <a:ext cx="11006866" cy="4222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4657B"/>
                </a:solidFill>
              </a:rPr>
              <a:t>It can be customized to your specific data wishes:</a:t>
            </a:r>
            <a:endParaRPr lang="en-US" b="0" dirty="0">
              <a:solidFill>
                <a:srgbClr val="3E6D82"/>
              </a:solidFill>
              <a:effectLst/>
              <a:latin typeface="+mn-lt"/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2E5D6D-23A2-D28A-F880-E667AA87B1EF}"/>
              </a:ext>
            </a:extLst>
          </p:cNvPr>
          <p:cNvSpPr txBox="1"/>
          <p:nvPr/>
        </p:nvSpPr>
        <p:spPr>
          <a:xfrm>
            <a:off x="6283039" y="3756648"/>
            <a:ext cx="5843648" cy="177997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usage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'data.csv'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split=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'train'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split=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'validation'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split=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'test'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9A957A-D68E-CF6B-3091-6DE8BF5D3A0B}"/>
              </a:ext>
            </a:extLst>
          </p:cNvPr>
          <p:cNvSpPr txBox="1"/>
          <p:nvPr/>
        </p:nvSpPr>
        <p:spPr>
          <a:xfrm>
            <a:off x="8392527" y="6027003"/>
            <a:ext cx="3734160" cy="83099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E6D82"/>
                </a:solidFill>
              </a:rPr>
              <a:t>Data type needs to be changed! Integers instead of floats </a:t>
            </a:r>
          </a:p>
          <a:p>
            <a:r>
              <a:rPr lang="en-US" sz="1600" dirty="0">
                <a:solidFill>
                  <a:srgbClr val="3E6D82"/>
                </a:solidFill>
              </a:rPr>
              <a:t>(</a:t>
            </a:r>
            <a:r>
              <a:rPr lang="en-US" sz="1600" dirty="0" err="1">
                <a:solidFill>
                  <a:srgbClr val="3E6D82"/>
                </a:solidFill>
              </a:rPr>
              <a:t>torch.long</a:t>
            </a:r>
            <a:r>
              <a:rPr lang="en-US" sz="1600" dirty="0">
                <a:solidFill>
                  <a:srgbClr val="3E6D82"/>
                </a:solidFill>
              </a:rPr>
              <a:t> = torch.int64)</a:t>
            </a:r>
            <a:endParaRPr lang="en-NL" sz="1600" dirty="0">
              <a:solidFill>
                <a:srgbClr val="3E6D82"/>
              </a:solidFill>
            </a:endParaRP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C19B2932-E3CC-0BBB-C2EF-8BD1DE41276C}"/>
              </a:ext>
            </a:extLst>
          </p:cNvPr>
          <p:cNvSpPr/>
          <p:nvPr/>
        </p:nvSpPr>
        <p:spPr>
          <a:xfrm>
            <a:off x="6472988" y="5981184"/>
            <a:ext cx="1919539" cy="376341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66B9F7-AECA-5B10-E3E3-C7D03E0CA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383" y="2089408"/>
            <a:ext cx="2762636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547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D1197-21E2-A9E2-E470-FF956A796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56EF7B-5833-CBDF-D870-CCC52A3D0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7" y="1301904"/>
            <a:ext cx="11179709" cy="793053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operators: full one-hot encoding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64C17B7-7374-2D4D-6766-C489A57C2912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0940C-8D6A-825A-3E9C-4818D9AC8999}"/>
              </a:ext>
            </a:extLst>
          </p:cNvPr>
          <p:cNvSpPr txBox="1">
            <a:spLocks/>
          </p:cNvSpPr>
          <p:nvPr/>
        </p:nvSpPr>
        <p:spPr>
          <a:xfrm>
            <a:off x="839837" y="2522769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3E6D82"/>
                </a:solidFill>
              </a:rPr>
              <a:t>One-hot encoding </a:t>
            </a:r>
            <a:r>
              <a:rPr lang="en-US" dirty="0">
                <a:solidFill>
                  <a:srgbClr val="3E6D82"/>
                </a:solidFill>
              </a:rPr>
              <a:t>is needed when inputs or targets are categorical and need to be represented in a numerical form for machine learning models:</a:t>
            </a:r>
          </a:p>
          <a:p>
            <a:br>
              <a:rPr lang="en-US" dirty="0">
                <a:solidFill>
                  <a:srgbClr val="3E6D82"/>
                </a:solidFill>
              </a:rPr>
            </a:br>
            <a:br>
              <a:rPr lang="en-US" dirty="0">
                <a:solidFill>
                  <a:srgbClr val="3E6D82"/>
                </a:solidFill>
              </a:rPr>
            </a:br>
            <a:r>
              <a:rPr lang="en-US" dirty="0">
                <a:solidFill>
                  <a:srgbClr val="3E6D82"/>
                </a:solidFill>
              </a:rPr>
              <a:t>For deep learning: use the </a:t>
            </a:r>
            <a:r>
              <a:rPr lang="en-US" b="1" dirty="0">
                <a:solidFill>
                  <a:srgbClr val="3E6D82"/>
                </a:solidFill>
              </a:rPr>
              <a:t>full one-hot encoding</a:t>
            </a:r>
            <a:r>
              <a:rPr lang="en-US" dirty="0">
                <a:solidFill>
                  <a:srgbClr val="3E6D82"/>
                </a:solidFill>
              </a:rPr>
              <a:t> variant instead of dummy or reduced-rank encoding</a:t>
            </a: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16A15-D812-3CD7-A9EC-E08819642F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2511"/>
          <a:stretch/>
        </p:blipFill>
        <p:spPr>
          <a:xfrm>
            <a:off x="7661004" y="4772307"/>
            <a:ext cx="4185700" cy="19828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3A9919-3DB7-14C2-10F6-56873C255B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79406"/>
          <a:stretch/>
        </p:blipFill>
        <p:spPr>
          <a:xfrm>
            <a:off x="864476" y="5505763"/>
            <a:ext cx="4185700" cy="41887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1E7B1F-1720-E026-B86A-BC3EE857A293}"/>
              </a:ext>
            </a:extLst>
          </p:cNvPr>
          <p:cNvCxnSpPr>
            <a:cxnSpLocks/>
          </p:cNvCxnSpPr>
          <p:nvPr/>
        </p:nvCxnSpPr>
        <p:spPr>
          <a:xfrm>
            <a:off x="5403260" y="5894927"/>
            <a:ext cx="17773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5943BA1-C43C-D98D-1DCB-C148051045A3}"/>
              </a:ext>
            </a:extLst>
          </p:cNvPr>
          <p:cNvSpPr txBox="1"/>
          <p:nvPr/>
        </p:nvSpPr>
        <p:spPr>
          <a:xfrm>
            <a:off x="5159543" y="5505763"/>
            <a:ext cx="2392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14D4E"/>
                </a:solidFill>
                <a:latin typeface="+mn-lt"/>
              </a:rPr>
              <a:t>full one-hot encoding</a:t>
            </a:r>
            <a:endParaRPr lang="en-NL" dirty="0">
              <a:solidFill>
                <a:srgbClr val="014D4E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F80953-F63F-D0FF-D3BC-4D627E18CEBC}"/>
              </a:ext>
            </a:extLst>
          </p:cNvPr>
          <p:cNvSpPr txBox="1"/>
          <p:nvPr/>
        </p:nvSpPr>
        <p:spPr>
          <a:xfrm>
            <a:off x="2632473" y="6062769"/>
            <a:ext cx="934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14D4E"/>
                </a:solidFill>
                <a:latin typeface="+mn-lt"/>
              </a:rPr>
              <a:t>labels</a:t>
            </a:r>
            <a:endParaRPr lang="en-NL" dirty="0">
              <a:solidFill>
                <a:srgbClr val="014D4E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B5CE03-3433-090B-9DAB-6C7F2BBB739A}"/>
              </a:ext>
            </a:extLst>
          </p:cNvPr>
          <p:cNvSpPr txBox="1"/>
          <p:nvPr/>
        </p:nvSpPr>
        <p:spPr>
          <a:xfrm>
            <a:off x="8918280" y="4555808"/>
            <a:ext cx="283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14D4E"/>
                </a:solidFill>
                <a:latin typeface="+mn-lt"/>
              </a:rPr>
              <a:t>Vector with </a:t>
            </a:r>
            <a:r>
              <a:rPr lang="en-US" i="1" dirty="0">
                <a:solidFill>
                  <a:srgbClr val="014D4E"/>
                </a:solidFill>
                <a:latin typeface="+mn-lt"/>
              </a:rPr>
              <a:t>C</a:t>
            </a:r>
            <a:r>
              <a:rPr lang="en-US" dirty="0">
                <a:solidFill>
                  <a:srgbClr val="014D4E"/>
                </a:solidFill>
                <a:latin typeface="+mn-lt"/>
              </a:rPr>
              <a:t> classes</a:t>
            </a:r>
            <a:endParaRPr lang="en-NL" dirty="0">
              <a:solidFill>
                <a:srgbClr val="014D4E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393116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F92C2-D0B0-ABFC-EFD3-26214DC9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2F078E-959E-8F00-10E0-7B2F985CE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7" y="1301904"/>
            <a:ext cx="11152137" cy="793053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operators: full one-hot encoding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977A3DA-C039-2A9B-9712-EF1537B26092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432382C-2B8C-8473-E484-E8ABB082F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086474"/>
              </p:ext>
            </p:extLst>
          </p:nvPr>
        </p:nvGraphicFramePr>
        <p:xfrm>
          <a:off x="114300" y="2695472"/>
          <a:ext cx="3004902" cy="3337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02451">
                  <a:extLst>
                    <a:ext uri="{9D8B030D-6E8A-4147-A177-3AD203B41FA5}">
                      <a16:colId xmlns:a16="http://schemas.microsoft.com/office/drawing/2014/main" val="1326254982"/>
                    </a:ext>
                  </a:extLst>
                </a:gridCol>
                <a:gridCol w="1502451">
                  <a:extLst>
                    <a:ext uri="{9D8B030D-6E8A-4147-A177-3AD203B41FA5}">
                      <a16:colId xmlns:a16="http://schemas.microsoft.com/office/drawing/2014/main" val="2143768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feature_01</a:t>
                      </a:r>
                      <a:endParaRPr lang="en-N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color</a:t>
                      </a:r>
                      <a:endParaRPr lang="en-N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39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0.152</a:t>
                      </a:r>
                      <a:endParaRPr lang="en-N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red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1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0.569</a:t>
                      </a:r>
                      <a:endParaRPr lang="en-N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green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06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0.478</a:t>
                      </a:r>
                      <a:endParaRPr lang="en-N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blue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735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0.963</a:t>
                      </a:r>
                      <a:endParaRPr lang="en-N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blue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880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0.571</a:t>
                      </a:r>
                      <a:endParaRPr lang="en-N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red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0.124</a:t>
                      </a:r>
                      <a:endParaRPr lang="en-N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blue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065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…</a:t>
                      </a:r>
                      <a:endParaRPr lang="en-N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390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0.851</a:t>
                      </a:r>
                      <a:endParaRPr lang="en-NL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</a:rPr>
                        <a:t>green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64960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88E9746-8329-8A81-7B6E-93B3EAD9F6DE}"/>
              </a:ext>
            </a:extLst>
          </p:cNvPr>
          <p:cNvSpPr txBox="1"/>
          <p:nvPr/>
        </p:nvSpPr>
        <p:spPr>
          <a:xfrm>
            <a:off x="3264473" y="2742121"/>
            <a:ext cx="87275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pandas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pd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define a dictionary for the strings and their desired numeric values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color_mapping</a:t>
            </a:r>
            <a:r>
              <a:rPr lang="en-US" sz="1400" dirty="0">
                <a:latin typeface="Consolas" panose="020B0609020204030204" pitchFamily="49" charset="0"/>
              </a:rPr>
              <a:t> = {'red': 0, 'green': 1, 'blue': 2}</a:t>
            </a:r>
            <a:br>
              <a:rPr lang="en-US" sz="1400" dirty="0">
                <a:latin typeface="Consolas" panose="020B0609020204030204" pitchFamily="49" charset="0"/>
              </a:rPr>
            </a:b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this will transform the strings to numeric values, e.g. [0, 1, 2, 2, 0, 2, …, 1]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color_labels</a:t>
            </a:r>
            <a:r>
              <a:rPr lang="en-US" sz="1400" dirty="0">
                <a:latin typeface="Consolas" panose="020B0609020204030204" pitchFamily="49" charset="0"/>
              </a:rPr>
              <a:t> = features['color'].map(</a:t>
            </a:r>
            <a:r>
              <a:rPr lang="en-US" sz="1400" dirty="0" err="1">
                <a:latin typeface="Consolas" panose="020B0609020204030204" pitchFamily="49" charset="0"/>
              </a:rPr>
              <a:t>color_mapping</a:t>
            </a:r>
            <a:r>
              <a:rPr lang="en-US" sz="1400" dirty="0">
                <a:latin typeface="Consolas" panose="020B0609020204030204" pitchFamily="49" charset="0"/>
              </a:rPr>
              <a:t>).values</a:t>
            </a:r>
            <a:br>
              <a:rPr lang="en-US" sz="1400" dirty="0">
                <a:latin typeface="Consolas" panose="020B0609020204030204" pitchFamily="49" charset="0"/>
              </a:rPr>
            </a:b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this will transform the numeric values to full one-hot encoded arrays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0: [1, 0, 0]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1: [0, 1, 0]</a:t>
            </a: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2: [0, 0, 1]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 err="1">
                <a:latin typeface="Consolas" panose="020B0609020204030204" pitchFamily="49" charset="0"/>
              </a:rPr>
              <a:t>color_one_hot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torch.nn.functional.one_hot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torch.tensor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color_labels</a:t>
            </a:r>
            <a:r>
              <a:rPr lang="en-US" sz="1400" dirty="0">
                <a:latin typeface="Consolas" panose="020B0609020204030204" pitchFamily="49" charset="0"/>
              </a:rPr>
              <a:t>), </a:t>
            </a:r>
            <a:r>
              <a:rPr lang="en-US" sz="1400" dirty="0" err="1">
                <a:latin typeface="Consolas" panose="020B0609020204030204" pitchFamily="49" charset="0"/>
              </a:rPr>
              <a:t>num_classes</a:t>
            </a:r>
            <a:r>
              <a:rPr lang="en-US" sz="1400" dirty="0">
                <a:latin typeface="Consolas" panose="020B0609020204030204" pitchFamily="49" charset="0"/>
              </a:rPr>
              <a:t>=3)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79FEA-4A74-FC4F-D5CE-612D5A2DCCE4}"/>
              </a:ext>
            </a:extLst>
          </p:cNvPr>
          <p:cNvSpPr txBox="1"/>
          <p:nvPr/>
        </p:nvSpPr>
        <p:spPr>
          <a:xfrm>
            <a:off x="114300" y="2178354"/>
            <a:ext cx="300490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E6D82"/>
                </a:solidFill>
              </a:rPr>
              <a:t>features pd </a:t>
            </a:r>
            <a:r>
              <a:rPr lang="en-US" dirty="0" err="1">
                <a:solidFill>
                  <a:srgbClr val="3E6D82"/>
                </a:solidFill>
              </a:rPr>
              <a:t>dataframe</a:t>
            </a:r>
            <a:r>
              <a:rPr lang="en-US" dirty="0">
                <a:solidFill>
                  <a:srgbClr val="3E6D82"/>
                </a:solidFill>
              </a:rPr>
              <a:t>:</a:t>
            </a:r>
            <a:endParaRPr lang="en-NL" dirty="0">
              <a:solidFill>
                <a:srgbClr val="3E6D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99284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96A35-0A39-D4E5-B7E0-27583F50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91A496-391E-A2FC-41B6-5E5BFAC30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01904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Dataset operators: data splits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AA846EE-1BD0-52A8-624D-4E1FF01185D6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36B91-E5A9-E558-EE67-0A4583AE1BA5}"/>
              </a:ext>
            </a:extLst>
          </p:cNvPr>
          <p:cNvSpPr txBox="1">
            <a:spLocks/>
          </p:cNvSpPr>
          <p:nvPr/>
        </p:nvSpPr>
        <p:spPr>
          <a:xfrm>
            <a:off x="839838" y="2116484"/>
            <a:ext cx="11006866" cy="4785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34657B"/>
                </a:solidFill>
              </a:rPr>
              <a:t>In lab session 2, </a:t>
            </a:r>
            <a:r>
              <a:rPr lang="en-US" dirty="0">
                <a:solidFill>
                  <a:srgbClr val="34657B"/>
                </a:solidFill>
              </a:rPr>
              <a:t>we have seen how to randomly split a dataset: 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For customized data splitting techniques, like </a:t>
            </a:r>
            <a:r>
              <a:rPr lang="en-US" b="1" dirty="0">
                <a:solidFill>
                  <a:srgbClr val="34657B"/>
                </a:solidFill>
              </a:rPr>
              <a:t>cross-validation</a:t>
            </a:r>
            <a:r>
              <a:rPr lang="en-US" dirty="0">
                <a:solidFill>
                  <a:srgbClr val="34657B"/>
                </a:solidFill>
              </a:rPr>
              <a:t>, </a:t>
            </a:r>
            <a:r>
              <a:rPr lang="en-US" b="1" dirty="0">
                <a:solidFill>
                  <a:srgbClr val="34657B"/>
                </a:solidFill>
              </a:rPr>
              <a:t>stratified sampling</a:t>
            </a:r>
            <a:r>
              <a:rPr lang="en-US" dirty="0">
                <a:solidFill>
                  <a:srgbClr val="34657B"/>
                </a:solidFill>
              </a:rPr>
              <a:t>, </a:t>
            </a:r>
            <a:r>
              <a:rPr lang="en-US" b="1" dirty="0">
                <a:solidFill>
                  <a:srgbClr val="34657B"/>
                </a:solidFill>
              </a:rPr>
              <a:t>oversampling</a:t>
            </a:r>
            <a:r>
              <a:rPr lang="en-US" dirty="0">
                <a:solidFill>
                  <a:srgbClr val="34657B"/>
                </a:solidFill>
              </a:rPr>
              <a:t>: </a:t>
            </a:r>
          </a:p>
          <a:p>
            <a:r>
              <a:rPr lang="en-US" u="sng" dirty="0">
                <a:solidFill>
                  <a:srgbClr val="34657B"/>
                </a:solidFill>
              </a:rPr>
              <a:t>Cross-validation:</a:t>
            </a:r>
            <a:r>
              <a:rPr lang="en-US" dirty="0">
                <a:solidFill>
                  <a:srgbClr val="34657B"/>
                </a:solidFill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Kfold</a:t>
            </a:r>
            <a:r>
              <a:rPr lang="en-US" dirty="0">
                <a:solidFill>
                  <a:srgbClr val="34657B"/>
                </a:solidFill>
              </a:rPr>
              <a:t> or </a:t>
            </a:r>
            <a:r>
              <a:rPr lang="en-US" dirty="0" err="1">
                <a:latin typeface="Consolas" panose="020B0609020204030204" pitchFamily="49" charset="0"/>
              </a:rPr>
              <a:t>StratifiedKFold</a:t>
            </a:r>
            <a:r>
              <a:rPr lang="en-US" dirty="0">
                <a:solidFill>
                  <a:srgbClr val="34657B"/>
                </a:solidFill>
              </a:rPr>
              <a:t> </a:t>
            </a:r>
            <a:r>
              <a:rPr lang="en-US" dirty="0">
                <a:solidFill>
                  <a:srgbClr val="34657B"/>
                </a:solidFill>
                <a:latin typeface="+mj-lt"/>
              </a:rPr>
              <a:t>from </a:t>
            </a:r>
            <a:r>
              <a:rPr lang="en-US" dirty="0" err="1">
                <a:latin typeface="Consolas" panose="020B0609020204030204" pitchFamily="49" charset="0"/>
              </a:rPr>
              <a:t>sklearn</a:t>
            </a:r>
            <a:r>
              <a:rPr lang="en-US" dirty="0">
                <a:solidFill>
                  <a:srgbClr val="34657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4657B"/>
                </a:solidFill>
                <a:latin typeface="+mj-lt"/>
              </a:rPr>
              <a:t>library</a:t>
            </a:r>
          </a:p>
          <a:p>
            <a:r>
              <a:rPr lang="en-US" u="sng" dirty="0">
                <a:solidFill>
                  <a:srgbClr val="34657B"/>
                </a:solidFill>
              </a:rPr>
              <a:t>Stratified sampling:</a:t>
            </a:r>
            <a:r>
              <a:rPr lang="en-US" dirty="0">
                <a:solidFill>
                  <a:srgbClr val="34657B"/>
                </a:solidFill>
              </a:rPr>
              <a:t>	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3E6D82"/>
                </a:solidFill>
                <a:effectLst/>
                <a:latin typeface="+mj-lt"/>
              </a:rPr>
              <a:t>with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stratify</a:t>
            </a:r>
            <a:r>
              <a:rPr lang="en-US" dirty="0">
                <a:solidFill>
                  <a:srgbClr val="34657B"/>
                </a:solidFill>
              </a:rPr>
              <a:t> </a:t>
            </a:r>
            <a:r>
              <a:rPr lang="en-US" dirty="0">
                <a:solidFill>
                  <a:srgbClr val="34657B"/>
                </a:solidFill>
                <a:latin typeface="+mj-lt"/>
              </a:rPr>
              <a:t>from </a:t>
            </a:r>
            <a:r>
              <a:rPr lang="en-US" dirty="0" err="1">
                <a:latin typeface="Consolas" panose="020B0609020204030204" pitchFamily="49" charset="0"/>
              </a:rPr>
              <a:t>sklearn</a:t>
            </a:r>
            <a:r>
              <a:rPr lang="en-US" dirty="0">
                <a:solidFill>
                  <a:srgbClr val="34657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4657B"/>
                </a:solidFill>
                <a:latin typeface="+mj-lt"/>
              </a:rPr>
              <a:t>library</a:t>
            </a:r>
          </a:p>
          <a:p>
            <a:r>
              <a:rPr lang="en-US" u="sng" dirty="0">
                <a:solidFill>
                  <a:srgbClr val="34657B"/>
                </a:solidFill>
              </a:rPr>
              <a:t>Oversampling:</a:t>
            </a:r>
            <a:r>
              <a:rPr lang="en-US" dirty="0">
                <a:solidFill>
                  <a:srgbClr val="34657B"/>
                </a:solidFill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WeightedRandomSampler</a:t>
            </a:r>
            <a:r>
              <a:rPr lang="en-US" dirty="0">
                <a:solidFill>
                  <a:srgbClr val="34657B"/>
                </a:solidFill>
              </a:rPr>
              <a:t> </a:t>
            </a:r>
            <a:r>
              <a:rPr lang="en-US" dirty="0">
                <a:solidFill>
                  <a:srgbClr val="34657B"/>
                </a:solidFill>
                <a:latin typeface="+mj-lt"/>
              </a:rPr>
              <a:t>from </a:t>
            </a:r>
            <a:r>
              <a:rPr lang="en-US" dirty="0" err="1">
                <a:latin typeface="Consolas" panose="020B0609020204030204" pitchFamily="49" charset="0"/>
              </a:rPr>
              <a:t>torch.utils.data</a:t>
            </a:r>
            <a:br>
              <a:rPr lang="en-US" dirty="0">
                <a:latin typeface="Consolas" panose="020B0609020204030204" pitchFamily="49" charset="0"/>
              </a:rPr>
            </a:b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3E6D82"/>
                </a:solidFill>
                <a:latin typeface="+mj-lt"/>
              </a:rPr>
              <a:t>URL for oversampling: </a:t>
            </a:r>
            <a:r>
              <a:rPr lang="en-US" sz="1200" dirty="0">
                <a:latin typeface="Consolas" panose="020B0609020204030204" pitchFamily="49" charset="0"/>
                <a:hlinkClick r:id="rId3"/>
              </a:rPr>
              <a:t>https://medium.com/data-science/demystifying-pytorchs-weightedrandomsampler-by-example-a68aceccb452</a:t>
            </a:r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FD9DE5-2CB2-BAE2-22E7-9A2ECCDBB8EF}"/>
              </a:ext>
            </a:extLst>
          </p:cNvPr>
          <p:cNvSpPr txBox="1"/>
          <p:nvPr/>
        </p:nvSpPr>
        <p:spPr>
          <a:xfrm>
            <a:off x="839838" y="2628781"/>
            <a:ext cx="1038061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torchvision.datasets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datasets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b-NO" sz="1400" dirty="0">
                <a:latin typeface="Consolas" panose="020B0609020204030204" pitchFamily="49" charset="0"/>
              </a:rPr>
              <a:t>train_dataset = datasets.MNIST(root='./data', train=True, transform=transforms.ToTensor())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test_dataset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datasets.MNIST</a:t>
            </a:r>
            <a:r>
              <a:rPr lang="en-US" sz="1400" dirty="0">
                <a:latin typeface="Consolas" panose="020B0609020204030204" pitchFamily="49" charset="0"/>
              </a:rPr>
              <a:t>(root='./data', train=False, transform=</a:t>
            </a:r>
            <a:r>
              <a:rPr lang="en-US" sz="1400" dirty="0" err="1">
                <a:latin typeface="Consolas" panose="020B0609020204030204" pitchFamily="49" charset="0"/>
              </a:rPr>
              <a:t>transforms.ToTensor</a:t>
            </a:r>
            <a:r>
              <a:rPr lang="en-US" sz="1400" dirty="0">
                <a:latin typeface="Consolas" panose="020B0609020204030204" pitchFamily="49" charset="0"/>
              </a:rPr>
              <a:t>())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split the original training dataset into a training subset of 80% and a new validation set of 20%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train_dataset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</a:rPr>
              <a:t>val_dataset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torch.utils.data.random_split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train_dataset</a:t>
            </a:r>
            <a:r>
              <a:rPr lang="en-US" sz="1400" dirty="0">
                <a:latin typeface="Consolas" panose="020B0609020204030204" pitchFamily="49" charset="0"/>
              </a:rPr>
              <a:t>, [0.8, 0.2])</a:t>
            </a:r>
          </a:p>
        </p:txBody>
      </p:sp>
    </p:spTree>
    <p:extLst>
      <p:ext uri="{BB962C8B-B14F-4D97-AF65-F5344CB8AC3E}">
        <p14:creationId xmlns:p14="http://schemas.microsoft.com/office/powerpoint/2010/main" val="161256403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8F2EB-C679-BE6F-09FB-3A1C481B1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37BF3D-18B1-1766-97D9-83A88BAD5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Dataset operators - normalization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EC6B5A8-4712-1D99-63CE-1DF965438F07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3C9F2-6151-FABB-AEE8-D200BB65A7D6}"/>
              </a:ext>
            </a:extLst>
          </p:cNvPr>
          <p:cNvSpPr txBox="1">
            <a:spLocks/>
          </p:cNvSpPr>
          <p:nvPr/>
        </p:nvSpPr>
        <p:spPr>
          <a:xfrm>
            <a:off x="916038" y="2094957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B4A0E-7486-1328-D1A2-E9CBCA46F8B7}"/>
              </a:ext>
            </a:extLst>
          </p:cNvPr>
          <p:cNvSpPr txBox="1"/>
          <p:nvPr/>
        </p:nvSpPr>
        <p:spPr>
          <a:xfrm>
            <a:off x="916038" y="2677150"/>
            <a:ext cx="898488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400" dirty="0">
                <a:latin typeface="Consolas" panose="020B0609020204030204" pitchFamily="49" charset="0"/>
              </a:rPr>
              <a:t>torch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data = </a:t>
            </a:r>
            <a:r>
              <a:rPr lang="en-US" sz="1400" dirty="0" err="1">
                <a:latin typeface="Consolas" panose="020B0609020204030204" pitchFamily="49" charset="0"/>
              </a:rPr>
              <a:t>torch.tensor</a:t>
            </a:r>
            <a:r>
              <a:rPr lang="en-US" sz="1400" dirty="0">
                <a:latin typeface="Consolas" panose="020B0609020204030204" pitchFamily="49" charset="0"/>
              </a:rPr>
              <a:t>([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[10.0, 100.0, 1000.0],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[20.0, 200.0, 2000.0],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[30.0, 300.0, 3000.0],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[40.0, 400.0, 4000.0],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[50.0, 500.0, 5000.0],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])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min-max normalization: (x - min) / (max - min)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min_val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data.min</a:t>
            </a:r>
            <a:r>
              <a:rPr lang="en-US" sz="1400" dirty="0">
                <a:latin typeface="Consolas" panose="020B0609020204030204" pitchFamily="49" charset="0"/>
              </a:rPr>
              <a:t>(dim=0, </a:t>
            </a:r>
            <a:r>
              <a:rPr lang="en-US" sz="1400" dirty="0" err="1">
                <a:latin typeface="Consolas" panose="020B0609020204030204" pitchFamily="49" charset="0"/>
              </a:rPr>
              <a:t>keepdim</a:t>
            </a:r>
            <a:r>
              <a:rPr lang="en-US" sz="1400" dirty="0"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400" dirty="0">
                <a:latin typeface="Consolas" panose="020B0609020204030204" pitchFamily="49" charset="0"/>
              </a:rPr>
              <a:t>).values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max_val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data.max</a:t>
            </a:r>
            <a:r>
              <a:rPr lang="en-US" sz="1400" dirty="0">
                <a:latin typeface="Consolas" panose="020B0609020204030204" pitchFamily="49" charset="0"/>
              </a:rPr>
              <a:t>(dim=0, </a:t>
            </a:r>
            <a:r>
              <a:rPr lang="en-US" sz="1400" dirty="0" err="1">
                <a:latin typeface="Consolas" panose="020B0609020204030204" pitchFamily="49" charset="0"/>
              </a:rPr>
              <a:t>keepdim</a:t>
            </a:r>
            <a:r>
              <a:rPr lang="en-US" sz="1400" dirty="0"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400" dirty="0">
                <a:latin typeface="Consolas" panose="020B0609020204030204" pitchFamily="49" charset="0"/>
              </a:rPr>
              <a:t>).values</a:t>
            </a:r>
          </a:p>
          <a:p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normalized_data</a:t>
            </a:r>
            <a:r>
              <a:rPr lang="en-US" sz="1400" dirty="0">
                <a:latin typeface="Consolas" panose="020B0609020204030204" pitchFamily="49" charset="0"/>
              </a:rPr>
              <a:t> = (data - </a:t>
            </a:r>
            <a:r>
              <a:rPr lang="en-US" sz="1400" dirty="0" err="1">
                <a:latin typeface="Consolas" panose="020B0609020204030204" pitchFamily="49" charset="0"/>
              </a:rPr>
              <a:t>min_val</a:t>
            </a:r>
            <a:r>
              <a:rPr lang="en-US" sz="1400" dirty="0">
                <a:latin typeface="Consolas" panose="020B0609020204030204" pitchFamily="49" charset="0"/>
              </a:rPr>
              <a:t>) / (</a:t>
            </a:r>
            <a:r>
              <a:rPr lang="en-US" sz="1400" dirty="0" err="1">
                <a:latin typeface="Consolas" panose="020B0609020204030204" pitchFamily="49" charset="0"/>
              </a:rPr>
              <a:t>max_val</a:t>
            </a:r>
            <a:r>
              <a:rPr lang="en-US" sz="1400" dirty="0">
                <a:latin typeface="Consolas" panose="020B0609020204030204" pitchFamily="49" charset="0"/>
              </a:rPr>
              <a:t> - </a:t>
            </a:r>
            <a:r>
              <a:rPr lang="en-US" sz="1400" dirty="0" err="1">
                <a:latin typeface="Consolas" panose="020B0609020204030204" pitchFamily="49" charset="0"/>
              </a:rPr>
              <a:t>min_val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9EC3A17-7E35-6C87-3CDC-F10BF135AAE3}"/>
              </a:ext>
            </a:extLst>
          </p:cNvPr>
          <p:cNvSpPr txBox="1">
            <a:spLocks/>
          </p:cNvSpPr>
          <p:nvPr/>
        </p:nvSpPr>
        <p:spPr>
          <a:xfrm>
            <a:off x="839838" y="2116484"/>
            <a:ext cx="11006866" cy="4895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34657B"/>
                </a:solidFill>
              </a:rPr>
              <a:t>Normalization </a:t>
            </a:r>
            <a:r>
              <a:rPr lang="en-US" dirty="0">
                <a:solidFill>
                  <a:srgbClr val="34657B"/>
                </a:solidFill>
              </a:rPr>
              <a:t>is needed to scale the data between 0-1 to enable efficient learning: </a:t>
            </a:r>
            <a:br>
              <a:rPr lang="en-US" dirty="0">
                <a:solidFill>
                  <a:srgbClr val="34657B"/>
                </a:solidFill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2329A6-C68F-044D-F205-992B431BC623}"/>
              </a:ext>
            </a:extLst>
          </p:cNvPr>
          <p:cNvSpPr txBox="1"/>
          <p:nvPr/>
        </p:nvSpPr>
        <p:spPr>
          <a:xfrm>
            <a:off x="6829425" y="5660278"/>
            <a:ext cx="5286375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normalized_data</a:t>
            </a:r>
            <a:r>
              <a:rPr lang="en-US" sz="1400" dirty="0">
                <a:latin typeface="Consolas" panose="020B0609020204030204" pitchFamily="49" charset="0"/>
              </a:rPr>
              <a:t> = tensor([[0.0000, 0.0000, 0.0000],</a:t>
            </a:r>
          </a:p>
          <a:p>
            <a:pPr lvl="5"/>
            <a:r>
              <a:rPr lang="en-US" sz="1400" dirty="0">
                <a:latin typeface="Consolas" panose="020B0609020204030204" pitchFamily="49" charset="0"/>
              </a:rPr>
              <a:t>  [0.2500, 0.2500, 0.2500],  </a:t>
            </a:r>
          </a:p>
          <a:p>
            <a:pPr lvl="5"/>
            <a:r>
              <a:rPr lang="en-US" sz="1400" dirty="0">
                <a:latin typeface="Consolas" panose="020B0609020204030204" pitchFamily="49" charset="0"/>
              </a:rPr>
              <a:t>  [0.5000, 0.5000, 0.5000],</a:t>
            </a:r>
          </a:p>
          <a:p>
            <a:pPr lvl="5"/>
            <a:r>
              <a:rPr lang="en-US" sz="1400" dirty="0">
                <a:latin typeface="Consolas" panose="020B0609020204030204" pitchFamily="49" charset="0"/>
              </a:rPr>
              <a:t>  [0.7500, 0.7500, 0.7500],  </a:t>
            </a:r>
          </a:p>
          <a:p>
            <a:pPr lvl="5"/>
            <a:r>
              <a:rPr lang="en-US" sz="1400" dirty="0">
                <a:latin typeface="Consolas" panose="020B0609020204030204" pitchFamily="49" charset="0"/>
              </a:rPr>
              <a:t>  [1.0000, 1.0000, 1.0000]])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327B2-A5AE-17AD-A07F-BA55C22F00DC}"/>
              </a:ext>
            </a:extLst>
          </p:cNvPr>
          <p:cNvSpPr txBox="1"/>
          <p:nvPr/>
        </p:nvSpPr>
        <p:spPr>
          <a:xfrm>
            <a:off x="6656777" y="2629223"/>
            <a:ext cx="5286375" cy="2585323"/>
          </a:xfrm>
          <a:prstGeom prst="rect">
            <a:avLst/>
          </a:prstGeom>
          <a:noFill/>
          <a:ln w="19050">
            <a:solidFill>
              <a:srgbClr val="3E6D8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E6D82"/>
                </a:solidFill>
              </a:rPr>
              <a:t>For efficiency and consistency, it’s best to implement this normalization directly in the </a:t>
            </a:r>
            <a:r>
              <a:rPr lang="en-US" b="1" dirty="0" err="1">
                <a:solidFill>
                  <a:srgbClr val="3E6D82"/>
                </a:solidFill>
              </a:rPr>
              <a:t>Pytorch</a:t>
            </a:r>
            <a:r>
              <a:rPr lang="en-US" b="1" dirty="0">
                <a:solidFill>
                  <a:srgbClr val="3E6D82"/>
                </a:solidFill>
              </a:rPr>
              <a:t> Dataset </a:t>
            </a:r>
            <a:r>
              <a:rPr lang="en-US" dirty="0">
                <a:solidFill>
                  <a:srgbClr val="3E6D82"/>
                </a:solidFill>
              </a:rPr>
              <a:t>class: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E6D82"/>
                </a:solidFill>
              </a:rPr>
              <a:t>for static preprocessing on the entire dataset, this normalization can be implemented in the </a:t>
            </a:r>
            <a:r>
              <a:rPr lang="en-US" b="1" dirty="0">
                <a:solidFill>
                  <a:srgbClr val="3E6D82"/>
                </a:solidFill>
              </a:rPr>
              <a:t>__</a:t>
            </a:r>
            <a:r>
              <a:rPr lang="en-US" b="1" dirty="0" err="1">
                <a:solidFill>
                  <a:srgbClr val="3E6D82"/>
                </a:solidFill>
              </a:rPr>
              <a:t>init</a:t>
            </a:r>
            <a:r>
              <a:rPr lang="en-US" b="1" dirty="0">
                <a:solidFill>
                  <a:srgbClr val="3E6D82"/>
                </a:solidFill>
              </a:rPr>
              <a:t>__ </a:t>
            </a:r>
            <a:r>
              <a:rPr lang="en-US" dirty="0">
                <a:solidFill>
                  <a:srgbClr val="3E6D82"/>
                </a:solidFill>
              </a:rPr>
              <a:t>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E6D82"/>
                </a:solidFill>
              </a:rPr>
              <a:t>for dynamic preprocessing, or when the dataset doesn’t fit the memory, this can be implemented in the </a:t>
            </a:r>
            <a:r>
              <a:rPr lang="en-US" b="1" dirty="0">
                <a:solidFill>
                  <a:srgbClr val="3E6D82"/>
                </a:solidFill>
              </a:rPr>
              <a:t>__</a:t>
            </a:r>
            <a:r>
              <a:rPr lang="en-US" b="1" dirty="0" err="1">
                <a:solidFill>
                  <a:srgbClr val="3E6D82"/>
                </a:solidFill>
              </a:rPr>
              <a:t>getitem</a:t>
            </a:r>
            <a:r>
              <a:rPr lang="en-US" b="1" dirty="0">
                <a:solidFill>
                  <a:srgbClr val="3E6D82"/>
                </a:solidFill>
              </a:rPr>
              <a:t>__ </a:t>
            </a:r>
            <a:r>
              <a:rPr lang="en-US" dirty="0">
                <a:solidFill>
                  <a:srgbClr val="3E6D82"/>
                </a:solidFill>
              </a:rPr>
              <a:t>function.</a:t>
            </a:r>
            <a:endParaRPr lang="en-NL" dirty="0">
              <a:solidFill>
                <a:srgbClr val="3E6D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0281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2B7B-AB8B-EDD3-F424-3170F7495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2F699B-A5B6-5123-D6B4-662131C21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Dataset operators - standardization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7A277E6-9F7A-5D46-044F-21711328D16F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60038-5860-6010-E6EE-3FD6AF12DF3B}"/>
              </a:ext>
            </a:extLst>
          </p:cNvPr>
          <p:cNvSpPr txBox="1">
            <a:spLocks/>
          </p:cNvSpPr>
          <p:nvPr/>
        </p:nvSpPr>
        <p:spPr>
          <a:xfrm>
            <a:off x="916038" y="2094957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A2A88-FDC1-E98F-E352-14487E74BDAC}"/>
              </a:ext>
            </a:extLst>
          </p:cNvPr>
          <p:cNvSpPr txBox="1"/>
          <p:nvPr/>
        </p:nvSpPr>
        <p:spPr>
          <a:xfrm>
            <a:off x="916038" y="2787582"/>
            <a:ext cx="898488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400" dirty="0">
                <a:latin typeface="Consolas" panose="020B0609020204030204" pitchFamily="49" charset="0"/>
              </a:rPr>
              <a:t>torch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data = </a:t>
            </a:r>
            <a:r>
              <a:rPr lang="en-US" sz="1400" dirty="0" err="1">
                <a:latin typeface="Consolas" panose="020B0609020204030204" pitchFamily="49" charset="0"/>
              </a:rPr>
              <a:t>torch.tensor</a:t>
            </a:r>
            <a:r>
              <a:rPr lang="en-US" sz="1400" dirty="0">
                <a:latin typeface="Consolas" panose="020B0609020204030204" pitchFamily="49" charset="0"/>
              </a:rPr>
              <a:t>([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[10.0, 100.0, 1000.0],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[20.0, 200.0, 2000.0],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[30.0, 300.0, 3000.0],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[40.0, 400.0, 4000.0],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[50.0, 500.0, 5000.0],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])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compute mean and standard deviation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mean = </a:t>
            </a:r>
            <a:r>
              <a:rPr lang="en-US" sz="1400" dirty="0" err="1">
                <a:latin typeface="Consolas" panose="020B0609020204030204" pitchFamily="49" charset="0"/>
              </a:rPr>
              <a:t>data.mean</a:t>
            </a:r>
            <a:r>
              <a:rPr lang="en-US" sz="1400" dirty="0">
                <a:latin typeface="Consolas" panose="020B0609020204030204" pitchFamily="49" charset="0"/>
              </a:rPr>
              <a:t>(dim=0, </a:t>
            </a:r>
            <a:r>
              <a:rPr lang="en-US" sz="1400" dirty="0" err="1">
                <a:latin typeface="Consolas" panose="020B0609020204030204" pitchFamily="49" charset="0"/>
              </a:rPr>
              <a:t>keepdim</a:t>
            </a:r>
            <a:r>
              <a:rPr lang="en-US" sz="1400" dirty="0"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std = </a:t>
            </a:r>
            <a:r>
              <a:rPr lang="en-US" sz="1400" dirty="0" err="1">
                <a:latin typeface="Consolas" panose="020B0609020204030204" pitchFamily="49" charset="0"/>
              </a:rPr>
              <a:t>data.std</a:t>
            </a:r>
            <a:r>
              <a:rPr lang="en-US" sz="1400" dirty="0">
                <a:latin typeface="Consolas" panose="020B0609020204030204" pitchFamily="49" charset="0"/>
              </a:rPr>
              <a:t>(dim=0, </a:t>
            </a:r>
            <a:r>
              <a:rPr lang="en-US" sz="1400" dirty="0" err="1">
                <a:latin typeface="Consolas" panose="020B0609020204030204" pitchFamily="49" charset="0"/>
              </a:rPr>
              <a:t>keepdim</a:t>
            </a:r>
            <a:r>
              <a:rPr lang="en-US" sz="1400" dirty="0"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standardized_data</a:t>
            </a:r>
            <a:r>
              <a:rPr lang="en-US" sz="1400" dirty="0">
                <a:latin typeface="Consolas" panose="020B0609020204030204" pitchFamily="49" charset="0"/>
              </a:rPr>
              <a:t> = (data - mean) / std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1E5B1D4-5304-2FC9-95F0-E840DC3C09EA}"/>
              </a:ext>
            </a:extLst>
          </p:cNvPr>
          <p:cNvSpPr txBox="1">
            <a:spLocks/>
          </p:cNvSpPr>
          <p:nvPr/>
        </p:nvSpPr>
        <p:spPr>
          <a:xfrm>
            <a:off x="839838" y="2116484"/>
            <a:ext cx="11006866" cy="681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34657B"/>
                </a:solidFill>
              </a:rPr>
              <a:t>Standardization </a:t>
            </a:r>
            <a:r>
              <a:rPr lang="en-US" dirty="0">
                <a:solidFill>
                  <a:srgbClr val="34657B"/>
                </a:solidFill>
              </a:rPr>
              <a:t>transforms features to have a mean of 0 and unit variance (1), </a:t>
            </a: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ensuring that all features contribute equally to the model’s learning process: </a:t>
            </a:r>
            <a:br>
              <a:rPr lang="en-US" dirty="0">
                <a:solidFill>
                  <a:srgbClr val="34657B"/>
                </a:solidFill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E5196-B374-917E-69B8-2966BDD8B358}"/>
              </a:ext>
            </a:extLst>
          </p:cNvPr>
          <p:cNvSpPr txBox="1"/>
          <p:nvPr/>
        </p:nvSpPr>
        <p:spPr>
          <a:xfrm>
            <a:off x="5567333" y="4753738"/>
            <a:ext cx="6146021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standardized_data</a:t>
            </a:r>
            <a:r>
              <a:rPr lang="en-US" sz="1400" dirty="0">
                <a:latin typeface="Consolas" panose="020B0609020204030204" pitchFamily="49" charset="0"/>
              </a:rPr>
              <a:t> = tensor([[-1.2649, -1.2649, -1.2649],</a:t>
            </a:r>
          </a:p>
          <a:p>
            <a:pPr lvl="5"/>
            <a:r>
              <a:rPr lang="en-US" sz="1400" dirty="0">
                <a:latin typeface="Consolas" panose="020B0609020204030204" pitchFamily="49" charset="0"/>
              </a:rPr>
              <a:t>    [-0.6325, -0.6325, -0.6325],  </a:t>
            </a:r>
          </a:p>
          <a:p>
            <a:pPr lvl="5"/>
            <a:r>
              <a:rPr lang="en-US" sz="1400" dirty="0">
                <a:latin typeface="Consolas" panose="020B0609020204030204" pitchFamily="49" charset="0"/>
              </a:rPr>
              <a:t>    [0.0000,  0.0000,  0.0000],</a:t>
            </a:r>
          </a:p>
          <a:p>
            <a:pPr lvl="5"/>
            <a:r>
              <a:rPr lang="en-US" sz="1400" dirty="0">
                <a:latin typeface="Consolas" panose="020B0609020204030204" pitchFamily="49" charset="0"/>
              </a:rPr>
              <a:t>    [0.6325,  0.6325,  0.6325],  </a:t>
            </a:r>
          </a:p>
          <a:p>
            <a:pPr lvl="5"/>
            <a:r>
              <a:rPr lang="en-US" sz="1400" dirty="0">
                <a:latin typeface="Consolas" panose="020B0609020204030204" pitchFamily="49" charset="0"/>
              </a:rPr>
              <a:t>    [1.2649,  1.2649,  1.2649]])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85959-9F30-0791-BEAE-2D145A4E8A3C}"/>
              </a:ext>
            </a:extLst>
          </p:cNvPr>
          <p:cNvSpPr txBox="1"/>
          <p:nvPr/>
        </p:nvSpPr>
        <p:spPr>
          <a:xfrm>
            <a:off x="5567333" y="6100024"/>
            <a:ext cx="473871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standardized_data.mean</a:t>
            </a:r>
            <a:r>
              <a:rPr lang="en-US" sz="1400" dirty="0">
                <a:latin typeface="Consolas" panose="020B0609020204030204" pitchFamily="49" charset="0"/>
              </a:rPr>
              <a:t>() 	tensor(3.9736e-09)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standardized_data.var</a:t>
            </a:r>
            <a:r>
              <a:rPr lang="en-US" sz="1400" dirty="0">
                <a:latin typeface="Consolas" panose="020B0609020204030204" pitchFamily="49" charset="0"/>
              </a:rPr>
              <a:t>()	tensor(0.8571)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F1BE4-123E-1C57-C475-915276824DBD}"/>
              </a:ext>
            </a:extLst>
          </p:cNvPr>
          <p:cNvSpPr txBox="1"/>
          <p:nvPr/>
        </p:nvSpPr>
        <p:spPr>
          <a:xfrm>
            <a:off x="5290310" y="2863622"/>
            <a:ext cx="6708794" cy="1754326"/>
          </a:xfrm>
          <a:prstGeom prst="rect">
            <a:avLst/>
          </a:prstGeom>
          <a:noFill/>
          <a:ln w="19050">
            <a:solidFill>
              <a:srgbClr val="3E6D8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E6D82"/>
                </a:solidFill>
              </a:rPr>
              <a:t>For efficiency and consistency, it’s best to implement this standardization directly in the </a:t>
            </a:r>
            <a:r>
              <a:rPr lang="en-US" b="1" dirty="0" err="1">
                <a:solidFill>
                  <a:srgbClr val="3E6D82"/>
                </a:solidFill>
              </a:rPr>
              <a:t>Pytorch</a:t>
            </a:r>
            <a:r>
              <a:rPr lang="en-US" b="1" dirty="0">
                <a:solidFill>
                  <a:srgbClr val="3E6D82"/>
                </a:solidFill>
              </a:rPr>
              <a:t> Dataset </a:t>
            </a:r>
            <a:r>
              <a:rPr lang="en-US" dirty="0">
                <a:solidFill>
                  <a:srgbClr val="3E6D82"/>
                </a:solidFill>
              </a:rPr>
              <a:t>class: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E6D82"/>
                </a:solidFill>
              </a:rPr>
              <a:t>for static preprocessing on the entire dataset, this standardization can be implemented in the </a:t>
            </a:r>
            <a:r>
              <a:rPr lang="en-US" b="1" dirty="0">
                <a:solidFill>
                  <a:srgbClr val="3E6D82"/>
                </a:solidFill>
              </a:rPr>
              <a:t>__</a:t>
            </a:r>
            <a:r>
              <a:rPr lang="en-US" b="1" dirty="0" err="1">
                <a:solidFill>
                  <a:srgbClr val="3E6D82"/>
                </a:solidFill>
              </a:rPr>
              <a:t>init</a:t>
            </a:r>
            <a:r>
              <a:rPr lang="en-US" b="1" dirty="0">
                <a:solidFill>
                  <a:srgbClr val="3E6D82"/>
                </a:solidFill>
              </a:rPr>
              <a:t>__ </a:t>
            </a:r>
            <a:r>
              <a:rPr lang="en-US" dirty="0">
                <a:solidFill>
                  <a:srgbClr val="3E6D82"/>
                </a:solidFill>
              </a:rPr>
              <a:t>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E6D82"/>
                </a:solidFill>
              </a:rPr>
              <a:t>for dynamic preprocessing, or when the dataset doesn’t fit the memory, this can be implemented in the </a:t>
            </a:r>
            <a:r>
              <a:rPr lang="en-US" b="1" dirty="0">
                <a:solidFill>
                  <a:srgbClr val="3E6D82"/>
                </a:solidFill>
              </a:rPr>
              <a:t>__</a:t>
            </a:r>
            <a:r>
              <a:rPr lang="en-US" b="1" dirty="0" err="1">
                <a:solidFill>
                  <a:srgbClr val="3E6D82"/>
                </a:solidFill>
              </a:rPr>
              <a:t>getitem</a:t>
            </a:r>
            <a:r>
              <a:rPr lang="en-US" b="1" dirty="0">
                <a:solidFill>
                  <a:srgbClr val="3E6D82"/>
                </a:solidFill>
              </a:rPr>
              <a:t>__ </a:t>
            </a:r>
            <a:r>
              <a:rPr lang="en-US" dirty="0">
                <a:solidFill>
                  <a:srgbClr val="3E6D82"/>
                </a:solidFill>
              </a:rPr>
              <a:t>function.</a:t>
            </a:r>
            <a:endParaRPr lang="en-NL" dirty="0">
              <a:solidFill>
                <a:srgbClr val="3E6D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8693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B1632-6930-140B-7476-BF47AA41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B6088A-4B81-449A-294B-2B79AA793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 err="1"/>
              <a:t>dataloaders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0CFE63C-727D-2255-295D-E68FAE66FF06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10EDF-BFEC-AF8C-F5CA-E0A5A5A58748}"/>
              </a:ext>
            </a:extLst>
          </p:cNvPr>
          <p:cNvSpPr txBox="1">
            <a:spLocks/>
          </p:cNvSpPr>
          <p:nvPr/>
        </p:nvSpPr>
        <p:spPr>
          <a:xfrm>
            <a:off x="916038" y="2094957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If a dataset is huge (when it cannot fit in memory), then we need to train it in batches.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Iterative batching can be accomplished with the </a:t>
            </a:r>
            <a:r>
              <a:rPr lang="en-US" b="1" dirty="0" err="1">
                <a:solidFill>
                  <a:srgbClr val="34657B"/>
                </a:solidFill>
              </a:rPr>
              <a:t>Dataloader</a:t>
            </a:r>
            <a:r>
              <a:rPr lang="en-US" dirty="0">
                <a:solidFill>
                  <a:srgbClr val="34657B"/>
                </a:solidFill>
              </a:rPr>
              <a:t> class in </a:t>
            </a:r>
            <a:r>
              <a:rPr lang="en-US" dirty="0" err="1">
                <a:solidFill>
                  <a:srgbClr val="34657B"/>
                </a:solidFill>
              </a:rPr>
              <a:t>Pytorch</a:t>
            </a:r>
            <a:r>
              <a:rPr lang="en-US" dirty="0">
                <a:solidFill>
                  <a:srgbClr val="34657B"/>
                </a:solidFill>
              </a:rPr>
              <a:t> (</a:t>
            </a:r>
            <a:r>
              <a:rPr lang="en-US" dirty="0" err="1">
                <a:solidFill>
                  <a:srgbClr val="34657B"/>
                </a:solidFill>
              </a:rPr>
              <a:t>torch.utils.data</a:t>
            </a:r>
            <a:r>
              <a:rPr lang="en-US" dirty="0">
                <a:solidFill>
                  <a:srgbClr val="34657B"/>
                </a:solidFill>
              </a:rPr>
              <a:t>):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- we tell it which dataset to use, the desired mini-batch size and if we’d like to shuffle it or not (shuffle option is typically used only for the training dataset).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- the </a:t>
            </a:r>
            <a:r>
              <a:rPr lang="en-US" dirty="0" err="1">
                <a:solidFill>
                  <a:srgbClr val="34657B"/>
                </a:solidFill>
              </a:rPr>
              <a:t>Dataloader</a:t>
            </a:r>
            <a:r>
              <a:rPr lang="en-US" dirty="0">
                <a:solidFill>
                  <a:srgbClr val="34657B"/>
                </a:solidFill>
              </a:rPr>
              <a:t> will behave like an iterator, so we can loop over it and fetch a different mini-batch every time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74E31-71EE-25BD-31DA-1CB787B7E8E1}"/>
              </a:ext>
            </a:extLst>
          </p:cNvPr>
          <p:cNvSpPr txBox="1"/>
          <p:nvPr/>
        </p:nvSpPr>
        <p:spPr>
          <a:xfrm>
            <a:off x="1228088" y="4611231"/>
            <a:ext cx="89848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torch.utils.data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DataLoader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latin typeface="Consolas" panose="020B0609020204030204" pitchFamily="49" charset="0"/>
              </a:rPr>
              <a:t>train_loader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DataLoader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train_dataset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</a:rPr>
              <a:t>batch_size</a:t>
            </a:r>
            <a:r>
              <a:rPr lang="en-US" sz="1400" dirty="0">
                <a:latin typeface="Consolas" panose="020B0609020204030204" pitchFamily="49" charset="0"/>
              </a:rPr>
              <a:t>=32, shuffle=True)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val_loader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DataLoader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val_dataset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</a:rPr>
              <a:t>batch_size</a:t>
            </a:r>
            <a:r>
              <a:rPr lang="en-US" sz="1400" dirty="0">
                <a:latin typeface="Consolas" panose="020B0609020204030204" pitchFamily="49" charset="0"/>
              </a:rPr>
              <a:t>=32, shuffle=False)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test_loader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DataLoader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test_dataset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</a:rPr>
              <a:t>batch_size</a:t>
            </a:r>
            <a:r>
              <a:rPr lang="en-US" sz="1400" dirty="0">
                <a:latin typeface="Consolas" panose="020B0609020204030204" pitchFamily="49" charset="0"/>
              </a:rPr>
              <a:t>=32, shuffle=False)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 </a:t>
            </a:r>
            <a:r>
              <a:rPr lang="en-US" sz="1400" dirty="0" err="1">
                <a:latin typeface="Consolas" panose="020B0609020204030204" pitchFamily="49" charset="0"/>
              </a:rPr>
              <a:t>batch_features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</a:rPr>
              <a:t>batch_labels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 </a:t>
            </a:r>
            <a:r>
              <a:rPr lang="en-US" sz="1400" dirty="0" err="1">
                <a:latin typeface="Consolas" panose="020B0609020204030204" pitchFamily="49" charset="0"/>
              </a:rPr>
              <a:t>train_loader</a:t>
            </a:r>
            <a:r>
              <a:rPr lang="en-US" sz="1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print(</a:t>
            </a:r>
            <a:r>
              <a:rPr lang="en-US" sz="1400" dirty="0" err="1">
                <a:latin typeface="Consolas" panose="020B0609020204030204" pitchFamily="49" charset="0"/>
              </a:rPr>
              <a:t>batch_features</a:t>
            </a:r>
            <a:r>
              <a:rPr lang="en-US" sz="1400" dirty="0">
                <a:latin typeface="Consolas" panose="020B06090202040302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</a:rPr>
              <a:t>batch_labels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797409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A836-C908-722A-FD18-F3BE2CDA1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9ED085-9C0A-93D2-E39C-6E14C4A4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Models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8D5946E-BC30-76E5-7E9E-41B9A0D987A4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D9FE9-2962-E57B-841F-E577F62C9750}"/>
              </a:ext>
            </a:extLst>
          </p:cNvPr>
          <p:cNvSpPr txBox="1">
            <a:spLocks/>
          </p:cNvSpPr>
          <p:nvPr/>
        </p:nvSpPr>
        <p:spPr>
          <a:xfrm>
            <a:off x="839838" y="1963121"/>
            <a:ext cx="11204842" cy="47630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4657B"/>
                </a:solidFill>
              </a:rPr>
              <a:t>In </a:t>
            </a:r>
            <a:r>
              <a:rPr lang="en-US" dirty="0" err="1">
                <a:solidFill>
                  <a:srgbClr val="34657B"/>
                </a:solidFill>
              </a:rPr>
              <a:t>Pytorch</a:t>
            </a:r>
            <a:r>
              <a:rPr lang="en-US" dirty="0">
                <a:solidFill>
                  <a:srgbClr val="34657B"/>
                </a:solidFill>
              </a:rPr>
              <a:t>, models and neural networks are built with the </a:t>
            </a:r>
            <a:r>
              <a:rPr lang="en-US" b="1" dirty="0" err="1">
                <a:solidFill>
                  <a:srgbClr val="34657B"/>
                </a:solidFill>
              </a:rPr>
              <a:t>nn.Module</a:t>
            </a:r>
            <a:r>
              <a:rPr lang="en-US" b="1" dirty="0">
                <a:solidFill>
                  <a:srgbClr val="34657B"/>
                </a:solidFill>
              </a:rPr>
              <a:t> </a:t>
            </a:r>
            <a:r>
              <a:rPr lang="en-US" dirty="0">
                <a:solidFill>
                  <a:srgbClr val="34657B"/>
                </a:solidFill>
              </a:rPr>
              <a:t>class. </a:t>
            </a: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After inheriting the </a:t>
            </a:r>
            <a:r>
              <a:rPr lang="en-US" dirty="0" err="1">
                <a:solidFill>
                  <a:srgbClr val="34657B"/>
                </a:solidFill>
              </a:rPr>
              <a:t>Pytorch</a:t>
            </a:r>
            <a:r>
              <a:rPr lang="en-US" dirty="0">
                <a:solidFill>
                  <a:srgbClr val="34657B"/>
                </a:solidFill>
              </a:rPr>
              <a:t> </a:t>
            </a:r>
            <a:r>
              <a:rPr lang="en-US" dirty="0" err="1">
                <a:solidFill>
                  <a:srgbClr val="34657B"/>
                </a:solidFill>
              </a:rPr>
              <a:t>nn.Module</a:t>
            </a:r>
            <a:r>
              <a:rPr lang="en-US" dirty="0">
                <a:solidFill>
                  <a:srgbClr val="34657B"/>
                </a:solidFill>
              </a:rPr>
              <a:t> class, you will specify the following two components: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__(self): 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dirty="0">
                <a:solidFill>
                  <a:srgbClr val="3E6D82"/>
                </a:solidFill>
                <a:latin typeface="+mn-lt"/>
              </a:rPr>
              <a:t>it defines the parts that make up the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forward(self, x):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dirty="0">
                <a:solidFill>
                  <a:srgbClr val="3E6D82"/>
                </a:solidFill>
                <a:latin typeface="+mn-lt"/>
              </a:rPr>
              <a:t>it performs the actual computation, that is, it outputs a prediction, given the input x</a:t>
            </a:r>
          </a:p>
          <a:p>
            <a:r>
              <a:rPr lang="en-US" dirty="0">
                <a:solidFill>
                  <a:srgbClr val="34657B"/>
                </a:solidFill>
              </a:rPr>
              <a:t>Common properties of the created model (i.e.,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RegressionModel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34657B"/>
                </a:solidFill>
              </a:rPr>
              <a:t> 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285750" indent="-2857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model.state_dict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– </a:t>
            </a:r>
            <a:r>
              <a:rPr lang="en-US" b="1" dirty="0">
                <a:solidFill>
                  <a:srgbClr val="3E6D82"/>
                </a:solidFill>
                <a:effectLst/>
                <a:latin typeface="+mj-lt"/>
              </a:rPr>
              <a:t>used for saving &amp; loading models</a:t>
            </a:r>
            <a:r>
              <a:rPr lang="en-US" b="0" dirty="0">
                <a:solidFill>
                  <a:srgbClr val="3E6D82"/>
                </a:solidFill>
                <a:effectLst/>
                <a:latin typeface="+mj-lt"/>
              </a:rPr>
              <a:t>. It returns 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E6D82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dictionary with the layer names as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E6D82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E6D82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 			   keys and learnable parameters (weights, biases) as values. </a:t>
            </a:r>
          </a:p>
          <a:p>
            <a:pPr marL="285750" indent="-2857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Consolas" panose="020B0609020204030204" pitchFamily="49" charset="0"/>
              </a:rPr>
              <a:t>model.parameters</a:t>
            </a:r>
            <a:r>
              <a:rPr lang="en-US" dirty="0">
                <a:latin typeface="Consolas" panose="020B0609020204030204" pitchFamily="49" charset="0"/>
              </a:rPr>
              <a:t>() – </a:t>
            </a:r>
            <a:r>
              <a:rPr lang="en-US" b="1" dirty="0">
                <a:solidFill>
                  <a:srgbClr val="3E6D82"/>
                </a:solidFill>
                <a:latin typeface="+mj-lt"/>
              </a:rPr>
              <a:t>used in the optimizer</a:t>
            </a:r>
            <a:r>
              <a:rPr lang="en-US" dirty="0">
                <a:solidFill>
                  <a:srgbClr val="3E6D82"/>
                </a:solidFill>
                <a:latin typeface="+mj-lt"/>
              </a:rPr>
              <a:t>. Returns an iterator over the model’s parameters</a:t>
            </a:r>
          </a:p>
          <a:p>
            <a:pPr marL="285750" indent="-2857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Consolas" panose="020B0609020204030204" pitchFamily="49" charset="0"/>
              </a:rPr>
              <a:t>model.train</a:t>
            </a:r>
            <a:r>
              <a:rPr lang="en-US" dirty="0">
                <a:latin typeface="Consolas" panose="020B0609020204030204" pitchFamily="49" charset="0"/>
              </a:rPr>
              <a:t>() - </a:t>
            </a:r>
            <a:r>
              <a:rPr lang="en-US" dirty="0">
                <a:solidFill>
                  <a:srgbClr val="3E6D82"/>
                </a:solidFill>
              </a:rPr>
              <a:t>sets the model to training mode (affects the behavior of specific layers, like dropout)</a:t>
            </a:r>
          </a:p>
          <a:p>
            <a:pPr marL="285750" indent="-2857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Consolas" panose="020B0609020204030204" pitchFamily="49" charset="0"/>
              </a:rPr>
              <a:t>model.eval</a:t>
            </a:r>
            <a:r>
              <a:rPr lang="en-US" dirty="0">
                <a:latin typeface="Consolas" panose="020B0609020204030204" pitchFamily="49" charset="0"/>
              </a:rPr>
              <a:t>() - </a:t>
            </a:r>
            <a:r>
              <a:rPr lang="en-US" dirty="0">
                <a:solidFill>
                  <a:srgbClr val="3E6D82"/>
                </a:solidFill>
              </a:rPr>
              <a:t>sets the model to evaluation mode (validation, testing), i.e., disable dropout</a:t>
            </a:r>
          </a:p>
          <a:p>
            <a:pPr marL="285750" indent="-2857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model.to(device) – </a:t>
            </a:r>
            <a:r>
              <a:rPr lang="en-US" dirty="0">
                <a:solidFill>
                  <a:srgbClr val="3E6D82"/>
                </a:solidFill>
              </a:rPr>
              <a:t>move model to GPU/CPU</a:t>
            </a:r>
            <a:endParaRPr lang="en-US" dirty="0">
              <a:solidFill>
                <a:srgbClr val="3E6D82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endParaRPr lang="en-US" dirty="0">
              <a:solidFill>
                <a:srgbClr val="3E6D82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39723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67FA3-C2B4-6AC0-8510-A2FDEF21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BF6B48-B258-3BF3-B14E-4C5F0C6A4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Models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6EBE2B5-A74A-2664-B2AA-53304F42C2DA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5798C-66B2-2EDA-C626-675CCAFF28C0}"/>
              </a:ext>
            </a:extLst>
          </p:cNvPr>
          <p:cNvSpPr txBox="1"/>
          <p:nvPr/>
        </p:nvSpPr>
        <p:spPr>
          <a:xfrm>
            <a:off x="18126" y="3247090"/>
            <a:ext cx="62162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400" dirty="0" err="1">
                <a:latin typeface="Consolas" panose="020B0609020204030204" pitchFamily="49" charset="0"/>
              </a:rPr>
              <a:t>torch.nn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nn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NeuralNetwork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nn.Module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num_inputs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num_outputs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super().__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.linear1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nn.Linear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num_inputs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.act_fn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nn.Tanh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.linear2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nn.Linear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num_outputs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forward(self, x):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x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.linear1(x)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x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.act_fn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(x)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x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.linear2(x)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68D4B-3CBA-2CBF-8D76-05AAA65E3AF0}"/>
              </a:ext>
            </a:extLst>
          </p:cNvPr>
          <p:cNvSpPr txBox="1"/>
          <p:nvPr/>
        </p:nvSpPr>
        <p:spPr>
          <a:xfrm>
            <a:off x="18126" y="2325556"/>
            <a:ext cx="5969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4657B"/>
                </a:solidFill>
              </a:rPr>
              <a:t>In lab session 1, we’ve already seen how to construct a neural network layer by layer:</a:t>
            </a:r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64A69-50AA-75EF-9F23-A64796EAA3AA}"/>
              </a:ext>
            </a:extLst>
          </p:cNvPr>
          <p:cNvSpPr txBox="1"/>
          <p:nvPr/>
        </p:nvSpPr>
        <p:spPr>
          <a:xfrm>
            <a:off x="6096000" y="3247090"/>
            <a:ext cx="621628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400" dirty="0" err="1">
                <a:latin typeface="Consolas" panose="020B0609020204030204" pitchFamily="49" charset="0"/>
              </a:rPr>
              <a:t>torch.nn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nn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NeuralNetwork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nn.Module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num_inputs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num_outputs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super().__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.model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nn.Sequential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nn.Linear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num_inputs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nn.Tanh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nn.Linear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num_outputs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)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forward(self, x):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.model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6A6CB-2E2B-B88A-F07F-65F2A739676C}"/>
              </a:ext>
            </a:extLst>
          </p:cNvPr>
          <p:cNvSpPr txBox="1"/>
          <p:nvPr/>
        </p:nvSpPr>
        <p:spPr>
          <a:xfrm>
            <a:off x="6204863" y="2325556"/>
            <a:ext cx="5969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4657B"/>
                </a:solidFill>
              </a:rPr>
              <a:t>Alternatively, we use the </a:t>
            </a:r>
            <a:r>
              <a:rPr lang="en-US" b="1" dirty="0" err="1">
                <a:solidFill>
                  <a:srgbClr val="34657B"/>
                </a:solidFill>
              </a:rPr>
              <a:t>nn.Sequential</a:t>
            </a:r>
            <a:r>
              <a:rPr lang="en-US" b="1" dirty="0">
                <a:solidFill>
                  <a:srgbClr val="34657B"/>
                </a:solidFill>
              </a:rPr>
              <a:t> </a:t>
            </a:r>
            <a:r>
              <a:rPr lang="en-US" dirty="0">
                <a:solidFill>
                  <a:srgbClr val="34657B"/>
                </a:solidFill>
              </a:rPr>
              <a:t>block to simplify the forward pass: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31619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97E50-45C4-F446-003A-A3D3D2F0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AB4155-52C0-B3DE-A634-BF9F4168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 fontScale="90000"/>
          </a:bodyPr>
          <a:lstStyle/>
          <a:p>
            <a:r>
              <a:rPr lang="en-US" dirty="0"/>
              <a:t>Rules of thumb when designing models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A389A7D-7484-B619-7743-611AA090DC75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FD7EC-F12C-8393-7F5E-DF5388ECE8C2}"/>
              </a:ext>
            </a:extLst>
          </p:cNvPr>
          <p:cNvSpPr txBox="1">
            <a:spLocks/>
          </p:cNvSpPr>
          <p:nvPr/>
        </p:nvSpPr>
        <p:spPr>
          <a:xfrm>
            <a:off x="916038" y="2094957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34657B"/>
                </a:solidFill>
              </a:rPr>
              <a:t>Begin with a simple architecture (e.g., one or two hidden layers) to establish a baseline performance, and then gradually add layers or complexity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34657B"/>
                </a:solidFill>
              </a:rPr>
              <a:t>Choose the number of hidden layers based on the task: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- Shallow Networks (1–2 hidden layers):</a:t>
            </a: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Work well for simpler problems like regression or small datasets. Examples: basic tabular data regression or simple classification.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- Deep Networks (3+ hidden layers):</a:t>
            </a: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Suitable for more complex problems like image recognition, sequence modeling, or speech processing.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34657B"/>
                </a:solidFill>
              </a:rPr>
              <a:t>Use a decreasing number of units in deeper layers:</a:t>
            </a:r>
            <a:br>
              <a:rPr lang="en-US" dirty="0">
                <a:solidFill>
                  <a:srgbClr val="34657B"/>
                </a:solidFill>
              </a:rPr>
            </a:br>
            <a:r>
              <a:rPr lang="en-US" dirty="0" err="1"/>
              <a:t>input_dim</a:t>
            </a:r>
            <a:r>
              <a:rPr lang="en-US" dirty="0"/>
              <a:t> -&gt; 512 -&gt; 256 -&gt; 128 -&gt; </a:t>
            </a:r>
            <a:r>
              <a:rPr lang="en-US" dirty="0" err="1"/>
              <a:t>output_dim</a:t>
            </a:r>
            <a:r>
              <a:rPr lang="en-US" dirty="0"/>
              <a:t>.  </a:t>
            </a: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This helps the model condense and abstract information.</a:t>
            </a: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Exceptions for specific tasks, like autoencoders, where symmetric architectures are common.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90347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E7CF-3C55-18F7-F14F-9A09167B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984708-607D-4875-5F71-C86A4E13E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layers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13B399F-921B-E703-EAB5-FB5E6E72167D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169C5F-3BCC-ED85-C4B9-64E92F7EE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63097"/>
              </p:ext>
            </p:extLst>
          </p:nvPr>
        </p:nvGraphicFramePr>
        <p:xfrm>
          <a:off x="387657" y="2139561"/>
          <a:ext cx="11459047" cy="4414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712604">
                  <a:extLst>
                    <a:ext uri="{9D8B030D-6E8A-4147-A177-3AD203B41FA5}">
                      <a16:colId xmlns:a16="http://schemas.microsoft.com/office/drawing/2014/main" val="3012600153"/>
                    </a:ext>
                  </a:extLst>
                </a:gridCol>
                <a:gridCol w="5746443">
                  <a:extLst>
                    <a:ext uri="{9D8B030D-6E8A-4147-A177-3AD203B41FA5}">
                      <a16:colId xmlns:a16="http://schemas.microsoft.com/office/drawing/2014/main" val="2049488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Layer in </a:t>
                      </a:r>
                      <a:r>
                        <a:rPr lang="en-US" dirty="0" err="1"/>
                        <a:t>Pytorch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Details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2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nn.Linear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in_features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out_features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) 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Fully connected (dense) layer. Standard layer for regression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070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nn.Conv2d(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in_channels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out_channels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kernel_size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)</a:t>
                      </a:r>
                      <a:endParaRPr lang="en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  <a:latin typeface="+mj-lt"/>
                        </a:rPr>
                        <a:t>Convolutional layer for image analysis. Extracts spatial features from images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7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nn.RNN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input_size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hidden_size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num_layers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)</a:t>
                      </a:r>
                      <a:endParaRPr lang="en-NL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Recurrent layer for time-series analysis. </a:t>
                      </a:r>
                      <a:endParaRPr lang="en-US" dirty="0">
                        <a:solidFill>
                          <a:srgbClr val="3E6D82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8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nn.LSTM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input_size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hidden_size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num_layers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)</a:t>
                      </a:r>
                      <a:endParaRPr lang="en-NL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LSTM layer for time-series analysis. Handles long-term dependencies</a:t>
                      </a:r>
                      <a:endParaRPr lang="en-US" dirty="0">
                        <a:solidFill>
                          <a:srgbClr val="3E6D82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666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nn.GRU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input_size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hidden_size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num_layers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)</a:t>
                      </a:r>
                      <a:endParaRPr lang="en-NL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  <a:latin typeface="+mn-lt"/>
                        </a:rPr>
                        <a:t>Gated recurrent layer for time-series analysis. Computationally lighter than the LSTM.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492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nn.ReLU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()</a:t>
                      </a:r>
                      <a:endParaRPr lang="en-NL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  <a:latin typeface="+mn-lt"/>
                        </a:rPr>
                        <a:t>Rectified linear unit: non-linear activation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765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nn.Tanh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()</a:t>
                      </a:r>
                      <a:endParaRPr lang="en-NL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  <a:latin typeface="+mn-lt"/>
                        </a:rPr>
                        <a:t>Hyperbolic Tangent: non-linear activation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2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nsolas" panose="020B0609020204030204" pitchFamily="49" charset="0"/>
                        </a:rPr>
                        <a:t>nn.Sigmoid</a:t>
                      </a:r>
                      <a:r>
                        <a:rPr lang="en-US" sz="1600" dirty="0">
                          <a:latin typeface="Consolas" panose="020B0609020204030204" pitchFamily="49" charset="0"/>
                        </a:rPr>
                        <a:t>()</a:t>
                      </a:r>
                      <a:endParaRPr lang="en-NL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  <a:latin typeface="+mn-lt"/>
                        </a:rPr>
                        <a:t>Sigmoid: non-linear activation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225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518190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A9C6A-0D2D-EA39-2659-1370F6AAB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910656-D64C-23E6-5A9F-E4EEC4538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Loss functions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3656CB0-75F8-1CC5-BB82-93A764715CB6}"/>
              </a:ext>
            </a:extLst>
          </p:cNvPr>
          <p:cNvSpPr txBox="1">
            <a:spLocks/>
          </p:cNvSpPr>
          <p:nvPr/>
        </p:nvSpPr>
        <p:spPr>
          <a:xfrm>
            <a:off x="839838" y="1937600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4657B"/>
                </a:solidFill>
              </a:rPr>
              <a:t>Regression: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Classification:</a:t>
            </a:r>
          </a:p>
          <a:p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4D73F3-24B8-2A3E-474C-3D8F39677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313934"/>
              </p:ext>
            </p:extLst>
          </p:nvPr>
        </p:nvGraphicFramePr>
        <p:xfrm>
          <a:off x="924560" y="2452266"/>
          <a:ext cx="10922144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297048">
                  <a:extLst>
                    <a:ext uri="{9D8B030D-6E8A-4147-A177-3AD203B41FA5}">
                      <a16:colId xmlns:a16="http://schemas.microsoft.com/office/drawing/2014/main" val="3012600153"/>
                    </a:ext>
                  </a:extLst>
                </a:gridCol>
                <a:gridCol w="7625096">
                  <a:extLst>
                    <a:ext uri="{9D8B030D-6E8A-4147-A177-3AD203B41FA5}">
                      <a16:colId xmlns:a16="http://schemas.microsoft.com/office/drawing/2014/main" val="2049488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Loss function in </a:t>
                      </a:r>
                      <a:r>
                        <a:rPr lang="en-US" dirty="0" err="1"/>
                        <a:t>Pytorch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Details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2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nn.MSELoss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() 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mean squared error (squared L2 norm)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070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nn.L1Loss() 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mean absolute error (MAE)</a:t>
                      </a:r>
                      <a:r>
                        <a:rPr lang="en-US" dirty="0">
                          <a:solidFill>
                            <a:srgbClr val="3E6D82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7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nn.HuberLoss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() 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hybrid loss function that combines the strengths of L1 loss and L2 loss</a:t>
                      </a:r>
                      <a:endParaRPr lang="en-US" dirty="0">
                        <a:solidFill>
                          <a:srgbClr val="3E6D82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8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nn.SmoothL1Loss() 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Huber loss with </a:t>
                      </a:r>
                      <a:r>
                        <a:rPr lang="en-US" dirty="0">
                          <a:solidFill>
                            <a:srgbClr val="3E6D82"/>
                          </a:solidFill>
                          <a:latin typeface="+mn-lt"/>
                        </a:rPr>
                        <a:t>𝛿=1 (refer to lesson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6660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710A8B-A7A7-17F2-F21D-62160A4CD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81574"/>
              </p:ext>
            </p:extLst>
          </p:nvPr>
        </p:nvGraphicFramePr>
        <p:xfrm>
          <a:off x="924560" y="4764236"/>
          <a:ext cx="10922144" cy="2021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297048">
                  <a:extLst>
                    <a:ext uri="{9D8B030D-6E8A-4147-A177-3AD203B41FA5}">
                      <a16:colId xmlns:a16="http://schemas.microsoft.com/office/drawing/2014/main" val="3012600153"/>
                    </a:ext>
                  </a:extLst>
                </a:gridCol>
                <a:gridCol w="7625096">
                  <a:extLst>
                    <a:ext uri="{9D8B030D-6E8A-4147-A177-3AD203B41FA5}">
                      <a16:colId xmlns:a16="http://schemas.microsoft.com/office/drawing/2014/main" val="2049488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Loss function in </a:t>
                      </a:r>
                      <a:r>
                        <a:rPr lang="en-US" dirty="0" err="1"/>
                        <a:t>Pytorch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Details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2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nn.BCELoss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()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binary cross-entropy loss (binary classification)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070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nn.BCEWithLogitsLoss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()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combines a sigmoid layer and the </a:t>
                      </a:r>
                      <a:r>
                        <a:rPr lang="en-US" dirty="0" err="1">
                          <a:solidFill>
                            <a:srgbClr val="3E6D82"/>
                          </a:solidFill>
                        </a:rPr>
                        <a:t>BCELoss</a:t>
                      </a: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 in one single class. </a:t>
                      </a:r>
                      <a:br>
                        <a:rPr lang="en-US" dirty="0">
                          <a:solidFill>
                            <a:srgbClr val="3E6D82"/>
                          </a:solidFill>
                        </a:rPr>
                      </a:b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(preferred for binary classification, input type assumes raw logits)</a:t>
                      </a:r>
                      <a:endParaRPr lang="en-US" dirty="0">
                        <a:solidFill>
                          <a:srgbClr val="3E6D82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7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nn.CrossEntropyLoss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()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combines a </a:t>
                      </a:r>
                      <a:r>
                        <a:rPr lang="en-US" dirty="0" err="1">
                          <a:solidFill>
                            <a:srgbClr val="3E6D82"/>
                          </a:solidFill>
                        </a:rPr>
                        <a:t>softmax</a:t>
                      </a: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 and negative log-likelihood loss in one single class. </a:t>
                      </a:r>
                      <a:br>
                        <a:rPr lang="en-US" dirty="0">
                          <a:solidFill>
                            <a:srgbClr val="3E6D82"/>
                          </a:solidFill>
                        </a:rPr>
                      </a:b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(preferred for multiclass classification, input type assumes raw logits)</a:t>
                      </a:r>
                      <a:endParaRPr lang="en-US" dirty="0">
                        <a:solidFill>
                          <a:srgbClr val="3E6D82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87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3A7A74E-9B34-0681-E529-8363150A4AAF}"/>
              </a:ext>
            </a:extLst>
          </p:cNvPr>
          <p:cNvSpPr txBox="1"/>
          <p:nvPr/>
        </p:nvSpPr>
        <p:spPr>
          <a:xfrm>
            <a:off x="8067411" y="1299894"/>
            <a:ext cx="37792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torch.nn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>
              <a:lnSpc>
                <a:spcPts val="1425"/>
              </a:lnSpc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>
              <a:lnSpc>
                <a:spcPts val="1425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criterion = nn.L1Loss()</a:t>
            </a:r>
          </a:p>
          <a:p>
            <a:pPr lvl="0">
              <a:lnSpc>
                <a:spcPts val="1425"/>
              </a:lnSpc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loss = criterion(outputs, targets)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A9AA2-991B-7347-1D7B-59077AD46880}"/>
              </a:ext>
            </a:extLst>
          </p:cNvPr>
          <p:cNvSpPr txBox="1"/>
          <p:nvPr/>
        </p:nvSpPr>
        <p:spPr>
          <a:xfrm>
            <a:off x="8067411" y="851114"/>
            <a:ext cx="356156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4657B"/>
                </a:solidFill>
              </a:rPr>
              <a:t>Typical usage: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7785461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E58A9-B68F-B4DE-6BB2-AB1C641E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87F58B-BDC8-8663-316C-F067496F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Optimization algorithms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F53F7FD-C9DC-A47A-245E-2C8A48D5622C}"/>
              </a:ext>
            </a:extLst>
          </p:cNvPr>
          <p:cNvSpPr txBox="1">
            <a:spLocks/>
          </p:cNvSpPr>
          <p:nvPr/>
        </p:nvSpPr>
        <p:spPr>
          <a:xfrm>
            <a:off x="839838" y="2037961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4657B"/>
                </a:solidFill>
              </a:rPr>
              <a:t>Available in </a:t>
            </a:r>
            <a:r>
              <a:rPr lang="en-US" b="1" dirty="0" err="1">
                <a:solidFill>
                  <a:srgbClr val="34657B"/>
                </a:solidFill>
              </a:rPr>
              <a:t>torch.optim</a:t>
            </a:r>
            <a:r>
              <a:rPr lang="en-US" dirty="0">
                <a:solidFill>
                  <a:srgbClr val="34657B"/>
                </a:solidFill>
              </a:rPr>
              <a:t>, typical usage: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3C4760-696D-406C-EC81-D427BBD03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600408"/>
              </p:ext>
            </p:extLst>
          </p:nvPr>
        </p:nvGraphicFramePr>
        <p:xfrm>
          <a:off x="924560" y="3301397"/>
          <a:ext cx="10922144" cy="3479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297048">
                  <a:extLst>
                    <a:ext uri="{9D8B030D-6E8A-4147-A177-3AD203B41FA5}">
                      <a16:colId xmlns:a16="http://schemas.microsoft.com/office/drawing/2014/main" val="3012600153"/>
                    </a:ext>
                  </a:extLst>
                </a:gridCol>
                <a:gridCol w="7625096">
                  <a:extLst>
                    <a:ext uri="{9D8B030D-6E8A-4147-A177-3AD203B41FA5}">
                      <a16:colId xmlns:a16="http://schemas.microsoft.com/office/drawing/2014/main" val="2049488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Optimizer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Details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2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SGD()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stochastic gradient descent optimizer (gradient descent, stochastic gradient descent and mini-batch gradient descent). Optionally with momentum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070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nsolas" panose="020B0609020204030204" pitchFamily="49" charset="0"/>
                        </a:rPr>
                        <a:t>Adagrad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()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3E6D82"/>
                          </a:solidFill>
                        </a:rPr>
                        <a:t>Adagrad</a:t>
                      </a: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 optimizer; learning rate will become smaller for parameters that get updated often (large gradients), and larger for parameters that are updated less frequently (small gradients).</a:t>
                      </a:r>
                      <a:endParaRPr lang="en-US" dirty="0">
                        <a:solidFill>
                          <a:srgbClr val="3E6D82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7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RMSprop()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Root mean square propagation, which uses exponential weighted average on the gradient update history</a:t>
                      </a:r>
                      <a:endParaRPr lang="en-US" dirty="0">
                        <a:solidFill>
                          <a:srgbClr val="3E6D82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8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</a:rPr>
                        <a:t>Adam()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E6D82"/>
                          </a:solidFill>
                        </a:rPr>
                        <a:t>Adaptive Moment Estimation (Adam), which combines the advantages of RMSprop and Momentum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6660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08BFBD-15AC-DE37-B0EB-04EFA2EA7809}"/>
              </a:ext>
            </a:extLst>
          </p:cNvPr>
          <p:cNvSpPr txBox="1"/>
          <p:nvPr/>
        </p:nvSpPr>
        <p:spPr>
          <a:xfrm>
            <a:off x="884147" y="2324761"/>
            <a:ext cx="10700522" cy="79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600" dirty="0" err="1">
                <a:latin typeface="Consolas" panose="020B0609020204030204" pitchFamily="49" charset="0"/>
              </a:rPr>
              <a:t>torch.optim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as </a:t>
            </a:r>
            <a:r>
              <a:rPr lang="en-US" sz="1600" dirty="0" err="1">
                <a:latin typeface="Consolas" panose="020B0609020204030204" pitchFamily="49" charset="0"/>
              </a:rPr>
              <a:t>optim</a:t>
            </a: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onsolas" panose="020B0609020204030204" pitchFamily="49" charset="0"/>
              </a:rPr>
              <a:t>optimizer = </a:t>
            </a:r>
            <a:r>
              <a:rPr lang="en-US" sz="1600" dirty="0" err="1">
                <a:latin typeface="Consolas" panose="020B0609020204030204" pitchFamily="49" charset="0"/>
              </a:rPr>
              <a:t>optim.Adam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model.parameters</a:t>
            </a:r>
            <a:r>
              <a:rPr lang="en-US" sz="1600" dirty="0">
                <a:latin typeface="Consolas" panose="020B0609020204030204" pitchFamily="49" charset="0"/>
              </a:rPr>
              <a:t>(), </a:t>
            </a:r>
            <a:r>
              <a:rPr lang="en-US" sz="1600" dirty="0" err="1">
                <a:latin typeface="Consolas" panose="020B0609020204030204" pitchFamily="49" charset="0"/>
              </a:rPr>
              <a:t>lr</a:t>
            </a:r>
            <a:r>
              <a:rPr lang="en-US" sz="1600" dirty="0">
                <a:latin typeface="Consolas" panose="020B0609020204030204" pitchFamily="49" charset="0"/>
              </a:rPr>
              <a:t>=0.01)</a:t>
            </a:r>
          </a:p>
        </p:txBody>
      </p:sp>
    </p:spTree>
    <p:extLst>
      <p:ext uri="{BB962C8B-B14F-4D97-AF65-F5344CB8AC3E}">
        <p14:creationId xmlns:p14="http://schemas.microsoft.com/office/powerpoint/2010/main" val="249086005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AFA26-7434-716A-B4E8-A2C49ADCC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67F821-CE5D-EC5C-F877-6BC1CDF6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 err="1"/>
              <a:t>autograd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1F4DD1-C870-0E59-5386-CC13BFA2D539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4657B"/>
                </a:solidFill>
              </a:rPr>
              <a:t>Autograd</a:t>
            </a:r>
            <a:r>
              <a:rPr lang="en-US" dirty="0">
                <a:solidFill>
                  <a:srgbClr val="34657B"/>
                </a:solidFill>
              </a:rPr>
              <a:t> = Automatic Differentiation Package of </a:t>
            </a:r>
            <a:r>
              <a:rPr lang="en-US" dirty="0" err="1">
                <a:solidFill>
                  <a:srgbClr val="34657B"/>
                </a:solidFill>
              </a:rPr>
              <a:t>Pytorch</a:t>
            </a:r>
            <a:r>
              <a:rPr lang="en-US" dirty="0">
                <a:solidFill>
                  <a:srgbClr val="34657B"/>
                </a:solidFill>
              </a:rPr>
              <a:t>. This package is responsible for computing the gradients for tensors during backpropagation (partial differentiation, chain rule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4657B"/>
                </a:solidFill>
              </a:rPr>
              <a:t>loss.backward</a:t>
            </a:r>
            <a:r>
              <a:rPr lang="en-US" b="1" dirty="0">
                <a:solidFill>
                  <a:srgbClr val="34657B"/>
                </a:solidFill>
              </a:rPr>
              <a:t>() </a:t>
            </a:r>
            <a:r>
              <a:rPr lang="en-US" dirty="0">
                <a:solidFill>
                  <a:srgbClr val="34657B"/>
                </a:solidFill>
              </a:rPr>
              <a:t>computes gradients of a scalar loss with respect to all tensors that have </a:t>
            </a:r>
            <a:r>
              <a:rPr lang="en-US" b="1" dirty="0" err="1">
                <a:solidFill>
                  <a:srgbClr val="34657B"/>
                </a:solidFill>
              </a:rPr>
              <a:t>requires_grad</a:t>
            </a:r>
            <a:r>
              <a:rPr lang="en-US" b="1" dirty="0">
                <a:solidFill>
                  <a:srgbClr val="34657B"/>
                </a:solidFill>
              </a:rPr>
              <a:t>=True </a:t>
            </a:r>
            <a:r>
              <a:rPr lang="en-US" dirty="0">
                <a:solidFill>
                  <a:srgbClr val="34657B"/>
                </a:solidFill>
              </a:rPr>
              <a:t>(model parameters have </a:t>
            </a:r>
            <a:r>
              <a:rPr lang="en-US" dirty="0" err="1">
                <a:solidFill>
                  <a:srgbClr val="34657B"/>
                </a:solidFill>
              </a:rPr>
              <a:t>requires_grad</a:t>
            </a:r>
            <a:r>
              <a:rPr lang="en-US" dirty="0">
                <a:solidFill>
                  <a:srgbClr val="34657B"/>
                </a:solidFill>
              </a:rPr>
              <a:t>=True as default)</a:t>
            </a:r>
          </a:p>
          <a:p>
            <a:r>
              <a:rPr lang="en-US" u="sng" dirty="0" err="1">
                <a:solidFill>
                  <a:srgbClr val="34657B"/>
                </a:solidFill>
              </a:rPr>
              <a:t>Autograd</a:t>
            </a:r>
            <a:r>
              <a:rPr lang="en-US" u="sng" dirty="0">
                <a:solidFill>
                  <a:srgbClr val="34657B"/>
                </a:solidFill>
              </a:rPr>
              <a:t> operations: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11663C-2046-CF5F-211D-085A56ACF7A2}"/>
              </a:ext>
            </a:extLst>
          </p:cNvPr>
          <p:cNvSpPr txBox="1"/>
          <p:nvPr/>
        </p:nvSpPr>
        <p:spPr>
          <a:xfrm>
            <a:off x="839838" y="4012455"/>
            <a:ext cx="5993280" cy="2643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accessing tensor gradient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tensor.grad</a:t>
            </a:r>
            <a:b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historic operations for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autograd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tensor.grad_fn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check if gradient is calculated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tensor.requires_grad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computes the gradient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 err="1">
                <a:latin typeface="Consolas" panose="020B0609020204030204" pitchFamily="49" charset="0"/>
              </a:rPr>
              <a:t>tensor.backward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B8ECA-CFA2-84FB-B92E-4431A19A51DC}"/>
              </a:ext>
            </a:extLst>
          </p:cNvPr>
          <p:cNvSpPr txBox="1"/>
          <p:nvPr/>
        </p:nvSpPr>
        <p:spPr>
          <a:xfrm>
            <a:off x="6096000" y="4012454"/>
            <a:ext cx="6065520" cy="2643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stop a tensor from tracking operations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 err="1">
                <a:latin typeface="Consolas" panose="020B0609020204030204" pitchFamily="49" charset="0"/>
              </a:rPr>
              <a:t>tensor.detach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temporarily disables gradient computation (used during evaluation)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with </a:t>
            </a:r>
            <a:r>
              <a:rPr lang="en-US" sz="1400" dirty="0" err="1">
                <a:latin typeface="Consolas" panose="020B0609020204030204" pitchFamily="49" charset="0"/>
              </a:rPr>
              <a:t>torch.no_grad</a:t>
            </a:r>
            <a:r>
              <a:rPr lang="en-US" sz="1400" dirty="0"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temporarily disables gradient computation for entire functions (using decorator)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@torch.no_grad()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18203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C6888-993E-C504-0CA1-0CF66B98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DC3A31-0EE2-BAD9-122D-F0929E05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 err="1"/>
              <a:t>autograd</a:t>
            </a:r>
            <a:r>
              <a:rPr lang="en-US" dirty="0"/>
              <a:t> – </a:t>
            </a:r>
            <a:r>
              <a:rPr lang="en-US" dirty="0" err="1"/>
              <a:t>zero_grad</a:t>
            </a:r>
            <a:r>
              <a:rPr lang="en-US" dirty="0"/>
              <a:t>()</a:t>
            </a:r>
            <a:endParaRPr lang="LID4096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1593A5F-95CD-3D5B-65D0-5B4567A66B93}"/>
              </a:ext>
            </a:extLst>
          </p:cNvPr>
          <p:cNvSpPr txBox="1">
            <a:spLocks/>
          </p:cNvSpPr>
          <p:nvPr/>
        </p:nvSpPr>
        <p:spPr>
          <a:xfrm>
            <a:off x="839838" y="2220841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rgbClr val="34657B"/>
                </a:solidFill>
              </a:rPr>
              <a:t>Accumulation of gradients: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every time </a:t>
            </a:r>
            <a:r>
              <a:rPr lang="en-US" b="1" dirty="0" err="1">
                <a:solidFill>
                  <a:srgbClr val="34657B"/>
                </a:solidFill>
              </a:rPr>
              <a:t>loss.backward</a:t>
            </a:r>
            <a:r>
              <a:rPr lang="en-US" b="1" dirty="0">
                <a:solidFill>
                  <a:srgbClr val="34657B"/>
                </a:solidFill>
              </a:rPr>
              <a:t>() </a:t>
            </a:r>
            <a:r>
              <a:rPr lang="en-US" dirty="0">
                <a:solidFill>
                  <a:srgbClr val="34657B"/>
                </a:solidFill>
              </a:rPr>
              <a:t>is called, the gradients of the model parameters are added to the existing gradients stored in the </a:t>
            </a:r>
            <a:r>
              <a:rPr lang="en-US" b="1" dirty="0">
                <a:solidFill>
                  <a:srgbClr val="34657B"/>
                </a:solidFill>
              </a:rPr>
              <a:t>.grad </a:t>
            </a:r>
            <a:r>
              <a:rPr lang="en-US" dirty="0">
                <a:solidFill>
                  <a:srgbClr val="34657B"/>
                </a:solidFill>
              </a:rPr>
              <a:t>attribute of the tensors.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this could lead to incorrect gradient updates because the optimizer will use a combination of gradients from multiple iterations (batches) rather than just the gradient of the current loss.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therefore, we need to zero out gradients after each update for the optimizer: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BD384-69C0-B011-5B8B-D337D4290CD9}"/>
              </a:ext>
            </a:extLst>
          </p:cNvPr>
          <p:cNvSpPr txBox="1"/>
          <p:nvPr/>
        </p:nvSpPr>
        <p:spPr>
          <a:xfrm>
            <a:off x="1146182" y="4864327"/>
            <a:ext cx="10700522" cy="1294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Consolas" panose="020B0609020204030204" pitchFamily="49" charset="0"/>
              </a:rPr>
              <a:t>optimizer.zero_grad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reset gradients to zero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loss.backward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compute gradients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optimizer.step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update parameters based on gradients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27313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0F18D-1B67-2FD1-7039-042956838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108CD8-0339-0C0A-D878-A6672126C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Batch normalization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A26D6DB-5CCC-3F95-0D8A-BFFC15F5D827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Batch normalization; it normalizes the input to a layer so that its mean is approximately 0 and its variance is approximately 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1C551-91C1-915C-A090-7663D86B62E0}"/>
              </a:ext>
            </a:extLst>
          </p:cNvPr>
          <p:cNvSpPr txBox="1"/>
          <p:nvPr/>
        </p:nvSpPr>
        <p:spPr>
          <a:xfrm>
            <a:off x="1093838" y="2946332"/>
            <a:ext cx="62162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400" dirty="0" err="1">
                <a:latin typeface="Consolas" panose="020B0609020204030204" pitchFamily="49" charset="0"/>
              </a:rPr>
              <a:t>torch.nn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nn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NeuralNetwork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nn.Module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num_inputs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num_outputs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super().__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.linear1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nn.Linear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num_inputs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.bn = nn.BatchNorm1d(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.act_fn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nn.Tanh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.linear2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nn.Linear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num_outputs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forward(self, x):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x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.linear1(x)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x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.bn(x)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x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.act_fn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(x)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x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.linear2(x)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</a:t>
            </a:r>
          </a:p>
        </p:txBody>
      </p:sp>
    </p:spTree>
    <p:extLst>
      <p:ext uri="{BB962C8B-B14F-4D97-AF65-F5344CB8AC3E}">
        <p14:creationId xmlns:p14="http://schemas.microsoft.com/office/powerpoint/2010/main" val="417747541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C51BA-E3AC-3E51-5421-65D7D488D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E8E54F-9440-A8E2-30CA-08ED8C465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Regularization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AD1A1FF-D4F6-2947-9B46-291604F5FB8C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Weight decay (L2 regularization built into the optimizer):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optimizer = </a:t>
            </a:r>
            <a:r>
              <a:rPr lang="en-US" sz="1400" dirty="0" err="1">
                <a:latin typeface="Consolas" panose="020B0609020204030204" pitchFamily="49" charset="0"/>
              </a:rPr>
              <a:t>torch.optim.SGD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model.parameters</a:t>
            </a:r>
            <a:r>
              <a:rPr lang="en-US" sz="1400" dirty="0">
                <a:latin typeface="Consolas" panose="020B0609020204030204" pitchFamily="49" charset="0"/>
              </a:rPr>
              <a:t>(),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=0.01, </a:t>
            </a:r>
            <a:r>
              <a:rPr lang="en-US" sz="1400" dirty="0" err="1">
                <a:latin typeface="Consolas" panose="020B0609020204030204" pitchFamily="49" charset="0"/>
              </a:rPr>
              <a:t>weight_decay</a:t>
            </a:r>
            <a:r>
              <a:rPr lang="en-US" sz="1400" dirty="0">
                <a:latin typeface="Consolas" panose="020B0609020204030204" pitchFamily="49" charset="0"/>
              </a:rPr>
              <a:t>=1e-4)</a:t>
            </a:r>
            <a:endParaRPr lang="en-US" sz="1400" dirty="0">
              <a:solidFill>
                <a:srgbClr val="34657B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Dropout </a:t>
            </a:r>
            <a:r>
              <a:rPr lang="en-US" dirty="0">
                <a:solidFill>
                  <a:srgbClr val="3E6D82"/>
                </a:solidFill>
              </a:rPr>
              <a:t>(after activation functions, and between fully connected layers, </a:t>
            </a:r>
            <a:r>
              <a:rPr lang="en-US" b="1" dirty="0">
                <a:solidFill>
                  <a:srgbClr val="3E6D82"/>
                </a:solidFill>
              </a:rPr>
              <a:t>nn.Dropout2D </a:t>
            </a:r>
            <a:r>
              <a:rPr lang="en-US" dirty="0">
                <a:solidFill>
                  <a:srgbClr val="3E6D82"/>
                </a:solidFill>
              </a:rPr>
              <a:t>for </a:t>
            </a:r>
            <a:r>
              <a:rPr lang="en-US" dirty="0" err="1">
                <a:solidFill>
                  <a:srgbClr val="3E6D82"/>
                </a:solidFill>
              </a:rPr>
              <a:t>ConvLayers</a:t>
            </a:r>
            <a:r>
              <a:rPr lang="en-US" dirty="0">
                <a:solidFill>
                  <a:srgbClr val="3E6D82"/>
                </a:solidFill>
              </a:rPr>
              <a:t>)</a:t>
            </a:r>
            <a:r>
              <a:rPr lang="en-US" dirty="0">
                <a:solidFill>
                  <a:srgbClr val="34657B"/>
                </a:solidFill>
              </a:rPr>
              <a:t>: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5BB05-D8C0-0057-74FE-02D30FF7AA89}"/>
              </a:ext>
            </a:extLst>
          </p:cNvPr>
          <p:cNvSpPr txBox="1"/>
          <p:nvPr/>
        </p:nvSpPr>
        <p:spPr>
          <a:xfrm>
            <a:off x="839838" y="3347720"/>
            <a:ext cx="62162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400" dirty="0" err="1">
                <a:latin typeface="Consolas" panose="020B0609020204030204" pitchFamily="49" charset="0"/>
              </a:rPr>
              <a:t>torch.nn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nn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NeuralNetwork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nn.Module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num_inputs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num_outputs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super().__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.linear1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nn.Linear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num_inputs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.act_fn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nn.Tanh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.dropout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nn.Dropout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(p=0.5)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.linear2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nn.Linear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num_outputs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forward(self, x):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x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.linear1(x)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x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.act_fn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(x)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x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.dropout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x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.linear2(x)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E4BE0-E49F-3D8A-98BE-E1E4ED7E0015}"/>
              </a:ext>
            </a:extLst>
          </p:cNvPr>
          <p:cNvSpPr txBox="1"/>
          <p:nvPr/>
        </p:nvSpPr>
        <p:spPr>
          <a:xfrm>
            <a:off x="5709426" y="450372"/>
            <a:ext cx="6367346" cy="1292662"/>
          </a:xfrm>
          <a:prstGeom prst="rect">
            <a:avLst/>
          </a:prstGeom>
          <a:solidFill>
            <a:schemeClr val="bg1"/>
          </a:solidFill>
          <a:ln w="19050">
            <a:solidFill>
              <a:srgbClr val="3E6D8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E6D82"/>
                </a:solidFill>
              </a:rPr>
              <a:t>In </a:t>
            </a:r>
            <a:r>
              <a:rPr lang="en-US" sz="1400" dirty="0" err="1">
                <a:solidFill>
                  <a:srgbClr val="3E6D82"/>
                </a:solidFill>
              </a:rPr>
              <a:t>Pytorch</a:t>
            </a:r>
            <a:r>
              <a:rPr lang="en-US" sz="1400" dirty="0">
                <a:solidFill>
                  <a:srgbClr val="3E6D82"/>
                </a:solidFill>
              </a:rPr>
              <a:t>, there’s no built-in equivalent for L1 regularization or </a:t>
            </a:r>
            <a:r>
              <a:rPr lang="en-US" sz="1400" dirty="0" err="1">
                <a:solidFill>
                  <a:srgbClr val="3E6D82"/>
                </a:solidFill>
              </a:rPr>
              <a:t>ElasticNet</a:t>
            </a:r>
            <a:r>
              <a:rPr lang="en-US" sz="1400" dirty="0">
                <a:solidFill>
                  <a:srgbClr val="3E6D82"/>
                </a:solidFill>
              </a:rPr>
              <a:t>. These must be implemented by hand, for example:</a:t>
            </a:r>
          </a:p>
          <a:p>
            <a:endParaRPr lang="en-US" sz="1400" dirty="0">
              <a:solidFill>
                <a:srgbClr val="3E6D82"/>
              </a:solidFill>
            </a:endParaRPr>
          </a:p>
          <a:p>
            <a:pPr lvl="0"/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200" dirty="0">
                <a:latin typeface="Consolas" panose="020B0609020204030204" pitchFamily="49" charset="0"/>
              </a:rPr>
              <a:t> l1_regularization(model, </a:t>
            </a:r>
            <a:r>
              <a:rPr lang="en-US" sz="1200" dirty="0" err="1">
                <a:latin typeface="Consolas" panose="020B0609020204030204" pitchFamily="49" charset="0"/>
              </a:rPr>
              <a:t>lambda_reg</a:t>
            </a:r>
            <a:r>
              <a:rPr lang="en-US" sz="1200" dirty="0">
                <a:latin typeface="Consolas" panose="020B0609020204030204" pitchFamily="49" charset="0"/>
              </a:rPr>
              <a:t>):</a:t>
            </a:r>
          </a:p>
          <a:p>
            <a:pPr lvl="0"/>
            <a:r>
              <a:rPr lang="en-US" sz="1200" dirty="0">
                <a:latin typeface="Consolas" panose="020B0609020204030204" pitchFamily="49" charset="0"/>
              </a:rPr>
              <a:t>    l1_penalty = sum(</a:t>
            </a:r>
            <a:r>
              <a:rPr lang="en-US" sz="1200" dirty="0" err="1">
                <a:latin typeface="Consolas" panose="020B0609020204030204" pitchFamily="49" charset="0"/>
              </a:rPr>
              <a:t>param.abs</a:t>
            </a:r>
            <a:r>
              <a:rPr lang="en-US" sz="1200" dirty="0">
                <a:latin typeface="Consolas" panose="020B0609020204030204" pitchFamily="49" charset="0"/>
              </a:rPr>
              <a:t>().sum()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latin typeface="Consolas" panose="020B0609020204030204" pitchFamily="49" charset="0"/>
              </a:rPr>
              <a:t> param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model.parameters</a:t>
            </a:r>
            <a:r>
              <a:rPr lang="en-US" sz="1200" dirty="0">
                <a:latin typeface="Consolas" panose="020B0609020204030204" pitchFamily="49" charset="0"/>
              </a:rPr>
              <a:t>())</a:t>
            </a:r>
          </a:p>
          <a:p>
            <a:pPr lvl="0"/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lambda_reg</a:t>
            </a:r>
            <a:r>
              <a:rPr lang="en-US" sz="1200" dirty="0">
                <a:latin typeface="Consolas" panose="020B0609020204030204" pitchFamily="49" charset="0"/>
              </a:rPr>
              <a:t> * l1_penalty</a:t>
            </a:r>
            <a:endParaRPr lang="en-NL" sz="1400" dirty="0"/>
          </a:p>
        </p:txBody>
      </p:sp>
    </p:spTree>
    <p:extLst>
      <p:ext uri="{BB962C8B-B14F-4D97-AF65-F5344CB8AC3E}">
        <p14:creationId xmlns:p14="http://schemas.microsoft.com/office/powerpoint/2010/main" val="2232006925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2CBA7-3429-96B5-010C-5B2AAE08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61FA88-9D64-6158-DBF2-6B560179C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Regularization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088A862-EAA4-9DD1-3C5D-83E71972833C}"/>
              </a:ext>
            </a:extLst>
          </p:cNvPr>
          <p:cNvSpPr txBox="1">
            <a:spLocks/>
          </p:cNvSpPr>
          <p:nvPr/>
        </p:nvSpPr>
        <p:spPr>
          <a:xfrm>
            <a:off x="839838" y="2409501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Early stopping: stops training when validation performance stops improving</a:t>
            </a:r>
            <a:br>
              <a:rPr lang="en-US" dirty="0">
                <a:solidFill>
                  <a:srgbClr val="34657B"/>
                </a:solidFill>
              </a:rPr>
            </a:br>
            <a:br>
              <a:rPr lang="en-US" dirty="0">
                <a:solidFill>
                  <a:srgbClr val="34657B"/>
                </a:solidFill>
              </a:rPr>
            </a:br>
            <a:r>
              <a:rPr lang="en-US" dirty="0">
                <a:solidFill>
                  <a:srgbClr val="34657B"/>
                </a:solidFill>
              </a:rPr>
              <a:t>An </a:t>
            </a:r>
            <a:r>
              <a:rPr lang="en-US" dirty="0" err="1">
                <a:solidFill>
                  <a:srgbClr val="34657B"/>
                </a:solidFill>
              </a:rPr>
              <a:t>EarlyStopping</a:t>
            </a:r>
            <a:r>
              <a:rPr lang="en-US" dirty="0">
                <a:solidFill>
                  <a:srgbClr val="34657B"/>
                </a:solidFill>
              </a:rPr>
              <a:t> class method was introduced in </a:t>
            </a:r>
            <a:r>
              <a:rPr lang="en-US" b="1" dirty="0">
                <a:solidFill>
                  <a:srgbClr val="34657B"/>
                </a:solidFill>
              </a:rPr>
              <a:t>lab session 2</a:t>
            </a:r>
            <a:r>
              <a:rPr lang="en-US" dirty="0">
                <a:solidFill>
                  <a:srgbClr val="34657B"/>
                </a:solidFill>
              </a:rPr>
              <a:t>: </a:t>
            </a:r>
            <a:br>
              <a:rPr lang="en-US" dirty="0">
                <a:solidFill>
                  <a:srgbClr val="34657B"/>
                </a:solidFill>
              </a:rPr>
            </a:br>
            <a:r>
              <a:rPr lang="en-US" sz="1600" dirty="0">
                <a:solidFill>
                  <a:srgbClr val="34657B"/>
                </a:solidFill>
                <a:hlinkClick r:id="rId3"/>
              </a:rPr>
              <a:t>https://github.com/Bjarten/early-stopping-pytorch/blob/main/early_stopping_pytorch/early_stopping.py</a:t>
            </a:r>
            <a:endParaRPr lang="en-US" sz="1600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4657B"/>
                </a:solidFill>
              </a:rPr>
              <a:t>ReduceLROnPlateau</a:t>
            </a:r>
            <a:r>
              <a:rPr lang="en-US" dirty="0">
                <a:solidFill>
                  <a:srgbClr val="34657B"/>
                </a:solidFill>
              </a:rPr>
              <a:t>: automatically reduces learning rate if there’s no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7FCC7D-2998-509E-594C-09F32A7B6CE8}"/>
              </a:ext>
            </a:extLst>
          </p:cNvPr>
          <p:cNvSpPr txBox="1"/>
          <p:nvPr/>
        </p:nvSpPr>
        <p:spPr>
          <a:xfrm>
            <a:off x="1125588" y="4717347"/>
            <a:ext cx="9761487" cy="135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400" dirty="0" err="1">
                <a:latin typeface="Consolas" panose="020B0609020204030204" pitchFamily="49" charset="0"/>
              </a:rPr>
              <a:t>torch.optim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 </a:t>
            </a:r>
            <a:r>
              <a:rPr lang="en-US" sz="1400" dirty="0" err="1">
                <a:latin typeface="Consolas" panose="020B0609020204030204" pitchFamily="49" charset="0"/>
              </a:rPr>
              <a:t>optim</a:t>
            </a:r>
            <a:endParaRPr lang="en-US" sz="1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optimizer = </a:t>
            </a:r>
            <a:r>
              <a:rPr lang="en-US" sz="1400" dirty="0" err="1">
                <a:latin typeface="Consolas" panose="020B0609020204030204" pitchFamily="49" charset="0"/>
              </a:rPr>
              <a:t>optim.SGD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model.parameters</a:t>
            </a:r>
            <a:r>
              <a:rPr lang="en-US" sz="1400" dirty="0">
                <a:latin typeface="Consolas" panose="020B0609020204030204" pitchFamily="49" charset="0"/>
              </a:rPr>
              <a:t>(),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=</a:t>
            </a:r>
            <a:r>
              <a:rPr lang="en-US" sz="1400" dirty="0" err="1">
                <a:latin typeface="Consolas" panose="020B0609020204030204" pitchFamily="49" charset="0"/>
              </a:rPr>
              <a:t>learning_rate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nsolas" panose="020B0609020204030204" pitchFamily="49" charset="0"/>
              </a:rPr>
              <a:t>scheduler = </a:t>
            </a:r>
            <a:r>
              <a:rPr lang="en-US" sz="1400" dirty="0" err="1">
                <a:latin typeface="Consolas" panose="020B0609020204030204" pitchFamily="49" charset="0"/>
              </a:rPr>
              <a:t>optim.lr_scheduler.ReduceLROnPlateau</a:t>
            </a:r>
            <a:r>
              <a:rPr lang="en-US" sz="1400" dirty="0">
                <a:latin typeface="Consolas" panose="020B0609020204030204" pitchFamily="49" charset="0"/>
              </a:rPr>
              <a:t>(optimizer, mode='min', factor=0.1, patience=10)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latin typeface="Consolas" panose="020B0609020204030204" pitchFamily="49" charset="0"/>
              </a:rPr>
              <a:t>scheduler.step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val_loss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7805367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AF11-A52A-0FE5-F061-A9D7EBB1F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18D203-F31B-28A8-D5A6-651475CEF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Autofit/>
          </a:bodyPr>
          <a:lstStyle/>
          <a:p>
            <a:r>
              <a:rPr lang="en-US" sz="3600" dirty="0"/>
              <a:t>Regularization – Data augmentation</a:t>
            </a:r>
            <a:endParaRPr lang="LID4096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1EE7B-AED4-ABDA-4A18-3CE3649753E7}"/>
              </a:ext>
            </a:extLst>
          </p:cNvPr>
          <p:cNvSpPr txBox="1"/>
          <p:nvPr/>
        </p:nvSpPr>
        <p:spPr>
          <a:xfrm>
            <a:off x="201663" y="2244336"/>
            <a:ext cx="65039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200" dirty="0">
                <a:latin typeface="Consolas" panose="020B0609020204030204" pitchFamily="49" charset="0"/>
              </a:rPr>
              <a:t>torch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200" dirty="0" err="1">
                <a:latin typeface="Consolas" panose="020B0609020204030204" pitchFamily="49" charset="0"/>
              </a:rPr>
              <a:t>torchvision.transforms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as </a:t>
            </a:r>
            <a:r>
              <a:rPr lang="en-US" sz="1200" dirty="0">
                <a:latin typeface="Consolas" panose="020B0609020204030204" pitchFamily="49" charset="0"/>
              </a:rPr>
              <a:t>transforms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1200" dirty="0" err="1">
                <a:latin typeface="Consolas" panose="020B0609020204030204" pitchFamily="49" charset="0"/>
              </a:rPr>
              <a:t>torch.utils.data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200" dirty="0">
                <a:latin typeface="Consolas" panose="020B0609020204030204" pitchFamily="49" charset="0"/>
              </a:rPr>
              <a:t>Dataset, </a:t>
            </a:r>
            <a:r>
              <a:rPr lang="en-US" sz="1200" dirty="0" err="1">
                <a:latin typeface="Consolas" panose="020B0609020204030204" pitchFamily="49" charset="0"/>
              </a:rPr>
              <a:t>DataLoader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1200" dirty="0">
                <a:latin typeface="Consolas" panose="020B0609020204030204" pitchFamily="49" charset="0"/>
              </a:rPr>
              <a:t>PIL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import </a:t>
            </a:r>
            <a:r>
              <a:rPr lang="en-US" sz="1200" dirty="0">
                <a:latin typeface="Consolas" panose="020B0609020204030204" pitchFamily="49" charset="0"/>
              </a:rPr>
              <a:t>Image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200" dirty="0" err="1">
                <a:latin typeface="Consolas" panose="020B0609020204030204" pitchFamily="49" charset="0"/>
              </a:rPr>
              <a:t>os</a:t>
            </a:r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 </a:t>
            </a:r>
            <a:r>
              <a:rPr lang="en-US" sz="1200" dirty="0" err="1">
                <a:latin typeface="Consolas" panose="020B0609020204030204" pitchFamily="49" charset="0"/>
              </a:rPr>
              <a:t>CustomImageDataset</a:t>
            </a:r>
            <a:r>
              <a:rPr lang="en-US" sz="1200" dirty="0">
                <a:latin typeface="Consolas" panose="020B0609020204030204" pitchFamily="49" charset="0"/>
              </a:rPr>
              <a:t>(Dataset):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def </a:t>
            </a:r>
            <a:r>
              <a:rPr lang="en-US" sz="1200" dirty="0">
                <a:latin typeface="Consolas" panose="020B0609020204030204" pitchFamily="49" charset="0"/>
              </a:rPr>
              <a:t>__</a:t>
            </a:r>
            <a:r>
              <a:rPr lang="en-US" sz="1200" dirty="0" err="1">
                <a:latin typeface="Consolas" panose="020B0609020204030204" pitchFamily="49" charset="0"/>
              </a:rPr>
              <a:t>init</a:t>
            </a:r>
            <a:r>
              <a:rPr lang="en-US" sz="1200" dirty="0">
                <a:latin typeface="Consolas" panose="020B0609020204030204" pitchFamily="49" charset="0"/>
              </a:rPr>
              <a:t>__(self, </a:t>
            </a:r>
            <a:r>
              <a:rPr lang="en-US" sz="1200" dirty="0" err="1">
                <a:latin typeface="Consolas" panose="020B0609020204030204" pitchFamily="49" charset="0"/>
              </a:rPr>
              <a:t>image_dir</a:t>
            </a:r>
            <a:r>
              <a:rPr lang="en-US" sz="1200" dirty="0">
                <a:latin typeface="Consolas" panose="020B0609020204030204" pitchFamily="49" charset="0"/>
              </a:rPr>
              <a:t>, transform=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2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200" dirty="0" err="1">
                <a:latin typeface="Consolas" panose="020B0609020204030204" pitchFamily="49" charset="0"/>
              </a:rPr>
              <a:t>.image_dir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</a:rPr>
              <a:t>image_dir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200" dirty="0" err="1">
                <a:latin typeface="Consolas" panose="020B0609020204030204" pitchFamily="49" charset="0"/>
              </a:rPr>
              <a:t>.image_filenames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</a:rPr>
              <a:t>os.listdir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image_dir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200" dirty="0" err="1">
                <a:latin typeface="Consolas" panose="020B0609020204030204" pitchFamily="49" charset="0"/>
              </a:rPr>
              <a:t>.transform</a:t>
            </a:r>
            <a:r>
              <a:rPr lang="en-US" sz="1200" dirty="0">
                <a:latin typeface="Consolas" panose="020B0609020204030204" pitchFamily="49" charset="0"/>
              </a:rPr>
              <a:t> = transform</a:t>
            </a:r>
          </a:p>
          <a:p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def </a:t>
            </a:r>
            <a:r>
              <a:rPr lang="en-US" sz="1200" dirty="0">
                <a:latin typeface="Consolas" panose="020B0609020204030204" pitchFamily="49" charset="0"/>
              </a:rPr>
              <a:t>__</a:t>
            </a:r>
            <a:r>
              <a:rPr lang="en-US" sz="1200" dirty="0" err="1">
                <a:latin typeface="Consolas" panose="020B0609020204030204" pitchFamily="49" charset="0"/>
              </a:rPr>
              <a:t>len</a:t>
            </a:r>
            <a:r>
              <a:rPr lang="en-US" sz="1200" dirty="0">
                <a:latin typeface="Consolas" panose="020B0609020204030204" pitchFamily="49" charset="0"/>
              </a:rPr>
              <a:t>__(self):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   return </a:t>
            </a:r>
            <a:r>
              <a:rPr lang="en-US" sz="1200" dirty="0" err="1">
                <a:latin typeface="Consolas" panose="020B0609020204030204" pitchFamily="49" charset="0"/>
              </a:rPr>
              <a:t>len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200" dirty="0" err="1">
                <a:latin typeface="Consolas" panose="020B0609020204030204" pitchFamily="49" charset="0"/>
              </a:rPr>
              <a:t>.image_filenames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def </a:t>
            </a:r>
            <a:r>
              <a:rPr lang="en-US" sz="1200" dirty="0">
                <a:latin typeface="Consolas" panose="020B0609020204030204" pitchFamily="49" charset="0"/>
              </a:rPr>
              <a:t>__</a:t>
            </a:r>
            <a:r>
              <a:rPr lang="en-US" sz="1200" dirty="0" err="1">
                <a:latin typeface="Consolas" panose="020B0609020204030204" pitchFamily="49" charset="0"/>
              </a:rPr>
              <a:t>getitem</a:t>
            </a:r>
            <a:r>
              <a:rPr lang="en-US" sz="1200" dirty="0">
                <a:latin typeface="Consolas" panose="020B0609020204030204" pitchFamily="49" charset="0"/>
              </a:rPr>
              <a:t>__(self, </a:t>
            </a:r>
            <a:r>
              <a:rPr lang="en-US" sz="1200" dirty="0" err="1">
                <a:latin typeface="Consolas" panose="020B0609020204030204" pitchFamily="49" charset="0"/>
              </a:rPr>
              <a:t>idx</a:t>
            </a:r>
            <a:r>
              <a:rPr lang="en-US" sz="12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latin typeface="Consolas" panose="020B0609020204030204" pitchFamily="49" charset="0"/>
              </a:rPr>
              <a:t>img_path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</a:rPr>
              <a:t>os.path.join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200" dirty="0" err="1">
                <a:latin typeface="Consolas" panose="020B0609020204030204" pitchFamily="49" charset="0"/>
              </a:rPr>
              <a:t>.image_dir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200" dirty="0" err="1">
                <a:latin typeface="Consolas" panose="020B0609020204030204" pitchFamily="49" charset="0"/>
              </a:rPr>
              <a:t>.image_filenames</a:t>
            </a:r>
            <a:r>
              <a:rPr lang="en-US" sz="1200" dirty="0">
                <a:latin typeface="Consolas" panose="020B0609020204030204" pitchFamily="49" charset="0"/>
              </a:rPr>
              <a:t>[</a:t>
            </a:r>
            <a:r>
              <a:rPr lang="en-US" sz="1200" dirty="0" err="1">
                <a:latin typeface="Consolas" panose="020B0609020204030204" pitchFamily="49" charset="0"/>
              </a:rPr>
              <a:t>idx</a:t>
            </a:r>
            <a:r>
              <a:rPr lang="en-US" sz="1200" dirty="0">
                <a:latin typeface="Consolas" panose="020B0609020204030204" pitchFamily="49" charset="0"/>
              </a:rPr>
              <a:t>])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latin typeface="Consolas" panose="020B0609020204030204" pitchFamily="49" charset="0"/>
              </a:rPr>
              <a:t>image = </a:t>
            </a:r>
            <a:r>
              <a:rPr lang="en-US" sz="1200" dirty="0" err="1">
                <a:latin typeface="Consolas" panose="020B0609020204030204" pitchFamily="49" charset="0"/>
              </a:rPr>
              <a:t>Image.open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img_path</a:t>
            </a:r>
            <a:r>
              <a:rPr lang="en-US" sz="1200" dirty="0">
                <a:latin typeface="Consolas" panose="020B0609020204030204" pitchFamily="49" charset="0"/>
              </a:rPr>
              <a:t>).convert(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"RGB"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   if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200" dirty="0" err="1">
                <a:latin typeface="Consolas" panose="020B0609020204030204" pitchFamily="49" charset="0"/>
              </a:rPr>
              <a:t>.transform</a:t>
            </a:r>
            <a:r>
              <a:rPr lang="en-US" sz="1200" dirty="0"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image =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200" dirty="0" err="1">
                <a:latin typeface="Consolas" panose="020B0609020204030204" pitchFamily="49" charset="0"/>
              </a:rPr>
              <a:t>.transform</a:t>
            </a:r>
            <a:r>
              <a:rPr lang="en-US" sz="1200" dirty="0">
                <a:latin typeface="Consolas" panose="020B0609020204030204" pitchFamily="49" charset="0"/>
              </a:rPr>
              <a:t>(image)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   return </a:t>
            </a:r>
            <a:r>
              <a:rPr lang="en-US" sz="1200" dirty="0">
                <a:latin typeface="Consolas" panose="020B0609020204030204" pitchFamily="49" charset="0"/>
              </a:rPr>
              <a:t>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76BC3-9339-E5B0-6323-FDE662E8220F}"/>
              </a:ext>
            </a:extLst>
          </p:cNvPr>
          <p:cNvSpPr txBox="1"/>
          <p:nvPr/>
        </p:nvSpPr>
        <p:spPr>
          <a:xfrm>
            <a:off x="6877050" y="2727194"/>
            <a:ext cx="531495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train_transform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</a:rPr>
              <a:t>transforms.Compose</a:t>
            </a:r>
            <a:r>
              <a:rPr lang="en-US" sz="1200" dirty="0">
                <a:latin typeface="Consolas" panose="020B0609020204030204" pitchFamily="49" charset="0"/>
              </a:rPr>
              <a:t>([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transforms.Resize</a:t>
            </a:r>
            <a:r>
              <a:rPr lang="en-US" sz="1200" dirty="0">
                <a:latin typeface="Consolas" panose="020B0609020204030204" pitchFamily="49" charset="0"/>
              </a:rPr>
              <a:t>((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224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224</a:t>
            </a:r>
            <a:r>
              <a:rPr lang="en-US" sz="1200" dirty="0">
                <a:latin typeface="Consolas" panose="020B0609020204030204" pitchFamily="49" charset="0"/>
              </a:rPr>
              <a:t>)),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transforms.RandomHorizontalFlip</a:t>
            </a:r>
            <a:r>
              <a:rPr lang="en-US" sz="1200" dirty="0">
                <a:latin typeface="Consolas" panose="020B0609020204030204" pitchFamily="49" charset="0"/>
              </a:rPr>
              <a:t>(p=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0.5</a:t>
            </a:r>
            <a:r>
              <a:rPr lang="en-US" sz="1200" dirty="0">
                <a:latin typeface="Consolas" panose="020B0609020204030204" pitchFamily="49" charset="0"/>
              </a:rPr>
              <a:t>),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transforms.RandomRotation</a:t>
            </a:r>
            <a:r>
              <a:rPr lang="en-US" sz="1200" dirty="0">
                <a:latin typeface="Consolas" panose="020B0609020204030204" pitchFamily="49" charset="0"/>
              </a:rPr>
              <a:t>(degrees=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200" dirty="0">
                <a:latin typeface="Consolas" panose="020B0609020204030204" pitchFamily="49" charset="0"/>
              </a:rPr>
              <a:t>),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transforms.ColorJitter</a:t>
            </a:r>
            <a:r>
              <a:rPr lang="en-US" sz="1200" dirty="0">
                <a:latin typeface="Consolas" panose="020B0609020204030204" pitchFamily="49" charset="0"/>
              </a:rPr>
              <a:t>(brightness=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0.2</a:t>
            </a:r>
            <a:r>
              <a:rPr lang="en-US" sz="1200" dirty="0">
                <a:latin typeface="Consolas" panose="020B0609020204030204" pitchFamily="49" charset="0"/>
              </a:rPr>
              <a:t>, contrast=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0.2</a:t>
            </a:r>
            <a:r>
              <a:rPr lang="en-US" sz="1200" dirty="0">
                <a:latin typeface="Consolas" panose="020B0609020204030204" pitchFamily="49" charset="0"/>
              </a:rPr>
              <a:t>,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    saturation=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0.2</a:t>
            </a:r>
            <a:r>
              <a:rPr lang="en-US" sz="1200" dirty="0">
                <a:latin typeface="Consolas" panose="020B0609020204030204" pitchFamily="49" charset="0"/>
              </a:rPr>
              <a:t>),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transforms.ToTensor</a:t>
            </a:r>
            <a:r>
              <a:rPr lang="en-US" sz="1200" dirty="0">
                <a:latin typeface="Consolas" panose="020B0609020204030204" pitchFamily="49" charset="0"/>
              </a:rPr>
              <a:t>()])</a:t>
            </a:r>
          </a:p>
          <a:p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# for validation dataset we don’t use augmentation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val_transform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</a:rPr>
              <a:t>transforms.Compose</a:t>
            </a:r>
            <a:r>
              <a:rPr lang="en-US" sz="1200" dirty="0">
                <a:latin typeface="Consolas" panose="020B0609020204030204" pitchFamily="49" charset="0"/>
              </a:rPr>
              <a:t>([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transforms.Resize</a:t>
            </a:r>
            <a:r>
              <a:rPr lang="en-US" sz="1200" dirty="0">
                <a:latin typeface="Consolas" panose="020B0609020204030204" pitchFamily="49" charset="0"/>
              </a:rPr>
              <a:t>((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224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224</a:t>
            </a:r>
            <a:r>
              <a:rPr lang="en-US" sz="1200" dirty="0">
                <a:latin typeface="Consolas" panose="020B0609020204030204" pitchFamily="49" charset="0"/>
              </a:rPr>
              <a:t>)),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transforms.ToTensor</a:t>
            </a:r>
            <a:r>
              <a:rPr lang="en-US" sz="1200" dirty="0">
                <a:latin typeface="Consolas" panose="020B0609020204030204" pitchFamily="49" charset="0"/>
              </a:rPr>
              <a:t>()])</a:t>
            </a:r>
          </a:p>
          <a:p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dirty="0" err="1">
                <a:latin typeface="Consolas" panose="020B0609020204030204" pitchFamily="49" charset="0"/>
              </a:rPr>
              <a:t>train_dataset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</a:rPr>
              <a:t>CustomImageDataset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image_dir</a:t>
            </a:r>
            <a:r>
              <a:rPr lang="en-US" sz="1200" dirty="0"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train_images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latin typeface="Consolas" panose="020B0609020204030204" pitchFamily="49" charset="0"/>
              </a:rPr>
              <a:t>,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 		transform=</a:t>
            </a:r>
            <a:r>
              <a:rPr lang="en-US" sz="1200" dirty="0" err="1">
                <a:latin typeface="Consolas" panose="020B0609020204030204" pitchFamily="49" charset="0"/>
              </a:rPr>
              <a:t>train_transform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val_dataset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</a:rPr>
              <a:t>CustomImageDataset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image_dir</a:t>
            </a:r>
            <a:r>
              <a:rPr lang="en-US" sz="1200" dirty="0"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val_images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latin typeface="Consolas" panose="020B0609020204030204" pitchFamily="49" charset="0"/>
              </a:rPr>
              <a:t>,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 		transform=</a:t>
            </a:r>
            <a:r>
              <a:rPr lang="en-US" sz="1200" dirty="0" err="1">
                <a:latin typeface="Consolas" panose="020B0609020204030204" pitchFamily="49" charset="0"/>
              </a:rPr>
              <a:t>val_transform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229854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5F963-CB8F-40BA-1790-4FE0EA104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4BE645-3006-7D9A-9E40-83278768C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Visualization tools - custom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ABB6F-758B-AFC7-62BD-53070C3D661C}"/>
              </a:ext>
            </a:extLst>
          </p:cNvPr>
          <p:cNvSpPr txBox="1"/>
          <p:nvPr/>
        </p:nvSpPr>
        <p:spPr>
          <a:xfrm>
            <a:off x="916038" y="2767681"/>
            <a:ext cx="979958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plot_loss_curve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(epochs,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train_losses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plt.plot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(range(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epochs+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train_losses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label=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'Training Loss'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plt.plot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(range(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epochs+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label=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'Val Loss'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plt.xlabel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'Epochs'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plt.ylabel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'Loss'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plt.title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'Train, Validation Loss Curve'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plt.legend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plt.grid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train_losses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pPr>
              <a:buNone/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epoch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num_epochs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train_loss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train_model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(model,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train_loader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val_loader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criterion, optimizer)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train_losses.append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train_loss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val_losses.append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plot_loss_curve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num_epochs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train_losses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2358FC0-C25F-C835-D02A-5956F3458A86}"/>
              </a:ext>
            </a:extLst>
          </p:cNvPr>
          <p:cNvSpPr txBox="1">
            <a:spLocks/>
          </p:cNvSpPr>
          <p:nvPr/>
        </p:nvSpPr>
        <p:spPr>
          <a:xfrm>
            <a:off x="916038" y="2183622"/>
            <a:ext cx="11006866" cy="496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4657B"/>
                </a:solidFill>
              </a:rPr>
              <a:t>A custom function for loss curve plotting was introduced in </a:t>
            </a:r>
            <a:r>
              <a:rPr lang="en-US" b="1" dirty="0">
                <a:solidFill>
                  <a:srgbClr val="34657B"/>
                </a:solidFill>
              </a:rPr>
              <a:t>lab session 2</a:t>
            </a:r>
            <a:r>
              <a:rPr lang="en-US" dirty="0">
                <a:solidFill>
                  <a:srgbClr val="34657B"/>
                </a:solidFill>
              </a:rPr>
              <a:t>: </a:t>
            </a:r>
            <a:r>
              <a:rPr lang="en-US" dirty="0" err="1">
                <a:solidFill>
                  <a:srgbClr val="34657B"/>
                </a:solidFill>
              </a:rPr>
              <a:t>plot_loss_curve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46069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63F1E-4B85-62F9-243B-A9C98875E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1B8141-5A64-DE0B-D1D5-6FE6C5D5C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Visualization tools - </a:t>
            </a:r>
            <a:r>
              <a:rPr lang="en-US" dirty="0" err="1"/>
              <a:t>tensorboard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C1D1401-DE09-A9FA-F1CF-C6AF9F42152B}"/>
              </a:ext>
            </a:extLst>
          </p:cNvPr>
          <p:cNvSpPr txBox="1">
            <a:spLocks/>
          </p:cNvSpPr>
          <p:nvPr/>
        </p:nvSpPr>
        <p:spPr>
          <a:xfrm>
            <a:off x="839838" y="2040827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>
                <a:latin typeface="Consolas" panose="020B0609020204030204" pitchFamily="49" charset="0"/>
              </a:rPr>
              <a:t>conda</a:t>
            </a:r>
            <a:r>
              <a:rPr lang="en-US" sz="1400" dirty="0">
                <a:latin typeface="Consolas" panose="020B0609020204030204" pitchFamily="49" charset="0"/>
              </a:rPr>
              <a:t> activate dl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pip install </a:t>
            </a:r>
            <a:r>
              <a:rPr lang="en-US" sz="1400" dirty="0" err="1">
                <a:latin typeface="Consolas" panose="020B0609020204030204" pitchFamily="49" charset="0"/>
              </a:rPr>
              <a:t>tensorboard</a:t>
            </a:r>
            <a:endParaRPr lang="en-US" sz="1400" dirty="0">
              <a:solidFill>
                <a:srgbClr val="34657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0524B-242A-8CED-1D4C-9399AF4995C3}"/>
              </a:ext>
            </a:extLst>
          </p:cNvPr>
          <p:cNvSpPr txBox="1"/>
          <p:nvPr/>
        </p:nvSpPr>
        <p:spPr>
          <a:xfrm>
            <a:off x="839838" y="2833880"/>
            <a:ext cx="9799587" cy="2980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200" dirty="0">
                <a:latin typeface="Consolas" panose="020B0609020204030204" pitchFamily="49" charset="0"/>
              </a:rPr>
              <a:t>torch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1200" dirty="0" err="1">
                <a:latin typeface="Consolas" panose="020B0609020204030204" pitchFamily="49" charset="0"/>
              </a:rPr>
              <a:t>torch.utils.tensorboard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import </a:t>
            </a:r>
            <a:r>
              <a:rPr lang="en-US" sz="1200" dirty="0" err="1">
                <a:latin typeface="Consolas" panose="020B0609020204030204" pitchFamily="49" charset="0"/>
              </a:rPr>
              <a:t>SummaryWriter</a:t>
            </a:r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dirty="0">
                <a:latin typeface="Consolas" panose="020B0609020204030204" pitchFamily="49" charset="0"/>
              </a:rPr>
              <a:t>model.to(device)</a:t>
            </a:r>
          </a:p>
          <a:p>
            <a:pPr>
              <a:lnSpc>
                <a:spcPts val="1425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writer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SummaryWriter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log_dir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'runs/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model_training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epoch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range(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num_epochs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model.train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train_loss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/=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train_loader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val_loss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/=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val_loader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writer.add_scalars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'loss'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{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'train'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train_loss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val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val_loss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}, epoch)</a:t>
            </a:r>
          </a:p>
          <a:p>
            <a:pPr>
              <a:lnSpc>
                <a:spcPts val="1425"/>
              </a:lnSpc>
            </a:pP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writer.close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200" dirty="0">
              <a:solidFill>
                <a:srgbClr val="A31515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A7E15F-63E3-82ED-315C-C7B456F79A71}"/>
                  </a:ext>
                </a:extLst>
              </p:cNvPr>
              <p:cNvSpPr txBox="1"/>
              <p:nvPr/>
            </p:nvSpPr>
            <p:spPr>
              <a:xfrm>
                <a:off x="1801142" y="4301729"/>
                <a:ext cx="23417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N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A7E15F-63E3-82ED-315C-C7B456F79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142" y="4301729"/>
                <a:ext cx="234175" cy="369332"/>
              </a:xfrm>
              <a:prstGeom prst="rect">
                <a:avLst/>
              </a:prstGeom>
              <a:blipFill>
                <a:blip r:embed="rId3"/>
                <a:stretch>
                  <a:fillRect l="-12821" r="-12821" b="-666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0B97EAF-93E6-B88A-3C1E-FD92723243E7}"/>
              </a:ext>
            </a:extLst>
          </p:cNvPr>
          <p:cNvSpPr txBox="1"/>
          <p:nvPr/>
        </p:nvSpPr>
        <p:spPr>
          <a:xfrm>
            <a:off x="1158106" y="6130156"/>
            <a:ext cx="45815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3E6D82"/>
                </a:solidFill>
                <a:effectLst/>
                <a:latin typeface="+mj-lt"/>
              </a:rPr>
              <a:t>When finished type in your comman</a:t>
            </a:r>
            <a:r>
              <a:rPr lang="en-US" dirty="0">
                <a:solidFill>
                  <a:srgbClr val="3E6D82"/>
                </a:solidFill>
                <a:latin typeface="+mj-lt"/>
              </a:rPr>
              <a:t>d line:</a:t>
            </a:r>
            <a:endParaRPr lang="en-US" sz="1800" dirty="0">
              <a:solidFill>
                <a:srgbClr val="3E6D82"/>
              </a:solidFill>
              <a:effectLst/>
              <a:latin typeface="+mj-lt"/>
            </a:endParaRPr>
          </a:p>
          <a:p>
            <a:r>
              <a:rPr lang="en-US" sz="1400" dirty="0" err="1">
                <a:effectLst/>
                <a:latin typeface="Consolas" panose="020B0609020204030204" pitchFamily="49" charset="0"/>
              </a:rPr>
              <a:t>tensorboard</a:t>
            </a:r>
            <a:r>
              <a:rPr lang="en-US" sz="1400" dirty="0">
                <a:effectLst/>
                <a:latin typeface="Consolas" panose="020B0609020204030204" pitchFamily="49" charset="0"/>
              </a:rPr>
              <a:t> --</a:t>
            </a:r>
            <a:r>
              <a:rPr lang="en-US" sz="1400" dirty="0" err="1">
                <a:effectLst/>
                <a:latin typeface="Consolas" panose="020B0609020204030204" pitchFamily="49" charset="0"/>
              </a:rPr>
              <a:t>logdir</a:t>
            </a:r>
            <a:r>
              <a:rPr lang="en-US" sz="1400" dirty="0">
                <a:effectLst/>
                <a:latin typeface="Consolas" panose="020B0609020204030204" pitchFamily="49" charset="0"/>
              </a:rPr>
              <a:t>=runs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8B750-1316-DB96-2B11-B61BED248070}"/>
              </a:ext>
            </a:extLst>
          </p:cNvPr>
          <p:cNvSpPr txBox="1"/>
          <p:nvPr/>
        </p:nvSpPr>
        <p:spPr>
          <a:xfrm>
            <a:off x="6452371" y="6126212"/>
            <a:ext cx="37163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3E6D82"/>
                </a:solidFill>
                <a:effectLst/>
                <a:latin typeface="+mj-lt"/>
              </a:rPr>
              <a:t>Then open in your default browser</a:t>
            </a:r>
            <a:r>
              <a:rPr lang="en-US" dirty="0">
                <a:solidFill>
                  <a:srgbClr val="3E6D82"/>
                </a:solidFill>
                <a:latin typeface="+mj-lt"/>
              </a:rPr>
              <a:t>:</a:t>
            </a:r>
            <a:endParaRPr lang="en-US" sz="1800" dirty="0">
              <a:solidFill>
                <a:srgbClr val="3E6D82"/>
              </a:solidFill>
              <a:effectLst/>
              <a:latin typeface="+mj-lt"/>
            </a:endParaRPr>
          </a:p>
          <a:p>
            <a:r>
              <a:rPr lang="en-US" sz="1400" dirty="0">
                <a:effectLst/>
                <a:latin typeface="Consolas" panose="020B0609020204030204" pitchFamily="49" charset="0"/>
              </a:rPr>
              <a:t>http://localhost:6006/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E453F9-BB1F-FDAE-3B0A-3A9F24DE6A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47" t="23281" r="67891" b="23438"/>
          <a:stretch/>
        </p:blipFill>
        <p:spPr>
          <a:xfrm>
            <a:off x="609528" y="6231193"/>
            <a:ext cx="460620" cy="461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3B0690-3D99-DD4F-F97E-559CF04ADE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42" t="23281" r="33449" b="18411"/>
          <a:stretch/>
        </p:blipFill>
        <p:spPr>
          <a:xfrm>
            <a:off x="5928496" y="6187612"/>
            <a:ext cx="523875" cy="50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364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FB7D5-4DB2-4FA1-32F8-77A2F6EA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E48EA0-A5EB-AB73-1DC6-6F35A4A7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Saving model weights – per epoch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D31A01E-BD4A-7F97-F298-0A86B1A376AF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F923D-B204-FF36-62B1-B79A2C831CA5}"/>
              </a:ext>
            </a:extLst>
          </p:cNvPr>
          <p:cNvSpPr txBox="1"/>
          <p:nvPr/>
        </p:nvSpPr>
        <p:spPr>
          <a:xfrm>
            <a:off x="929048" y="2621311"/>
            <a:ext cx="717974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torch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epoch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num_epochs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model.train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inputs, targets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train_loader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 inputs, targets = inputs.to(device), targets.to(device)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optimizer.zero_grad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outputs = model(inputs)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loss = criterion(outputs, targets)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loss.backward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optimizer.step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torch.save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model.state_dict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"model_epoch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{epoch+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pth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9956526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B603-7C1A-172E-CD52-B5C02B8FC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EA44FE-EE4C-DCFF-D265-B66D40EC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257299"/>
            <a:ext cx="10789140" cy="793053"/>
          </a:xfrm>
        </p:spPr>
        <p:txBody>
          <a:bodyPr>
            <a:noAutofit/>
          </a:bodyPr>
          <a:lstStyle/>
          <a:p>
            <a:r>
              <a:rPr lang="en-US" sz="3600" dirty="0"/>
              <a:t>Saving model weights – best performance</a:t>
            </a:r>
            <a:endParaRPr lang="LID4096" sz="3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1FAC9DA-69CA-EF3C-C164-5EFD44DBDE81}"/>
              </a:ext>
            </a:extLst>
          </p:cNvPr>
          <p:cNvSpPr txBox="1">
            <a:spLocks/>
          </p:cNvSpPr>
          <p:nvPr/>
        </p:nvSpPr>
        <p:spPr>
          <a:xfrm>
            <a:off x="839838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F702BF-3C65-38DA-06DE-4B466443EBA7}"/>
              </a:ext>
            </a:extLst>
          </p:cNvPr>
          <p:cNvSpPr txBox="1"/>
          <p:nvPr/>
        </p:nvSpPr>
        <p:spPr>
          <a:xfrm>
            <a:off x="563022" y="1933226"/>
            <a:ext cx="661502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torch</a:t>
            </a:r>
          </a:p>
          <a:p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model.to(device)</a:t>
            </a: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best_val_loss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float(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'inf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epoch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num_epochs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model.train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inputs, targets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train_loader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inputs, targets = inputs.to(device), targets.to(device)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optimizer.zero_grad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outputs = model(inputs)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loss = criterion(outputs, targets)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loss.backward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optimizer.step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Validation phase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model.eval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torch.no_grad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inputs, targets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val_loader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inputs, targets = inputs.to(device), targets.to(device)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outputs = model(inputs)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loss = criterion(outputs, targets)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loss.item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val_loader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best_val_loss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best_val_loss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val_loss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torch.save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model.state_dict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best_model.pth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F96CA-EFE1-CE47-DAD2-7F18A5040C1B}"/>
              </a:ext>
            </a:extLst>
          </p:cNvPr>
          <p:cNvSpPr txBox="1"/>
          <p:nvPr/>
        </p:nvSpPr>
        <p:spPr>
          <a:xfrm>
            <a:off x="6716595" y="4957131"/>
            <a:ext cx="5373840" cy="1754326"/>
          </a:xfrm>
          <a:prstGeom prst="rect">
            <a:avLst/>
          </a:prstGeom>
          <a:solidFill>
            <a:schemeClr val="bg1"/>
          </a:solidFill>
          <a:ln w="19050">
            <a:solidFill>
              <a:srgbClr val="3E6D8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E6D82"/>
                </a:solidFill>
              </a:rPr>
              <a:t>This procedure is applied when the loss is average per batch (</a:t>
            </a:r>
            <a:r>
              <a:rPr lang="en-US" dirty="0">
                <a:latin typeface="Consolas" panose="020B0609020204030204" pitchFamily="49" charset="0"/>
              </a:rPr>
              <a:t>reduction=</a:t>
            </a:r>
            <a:r>
              <a:rPr lang="en-US" dirty="0">
                <a:latin typeface="Aptos Display" panose="020B0004020202020204" pitchFamily="34" charset="0"/>
              </a:rPr>
              <a:t>'</a:t>
            </a:r>
            <a:r>
              <a:rPr lang="en-US" dirty="0">
                <a:latin typeface="Consolas" panose="020B0609020204030204" pitchFamily="49" charset="0"/>
              </a:rPr>
              <a:t>mean</a:t>
            </a:r>
            <a:r>
              <a:rPr lang="en-US" dirty="0">
                <a:latin typeface="Aptos Display" panose="020B0004020202020204" pitchFamily="34" charset="0"/>
              </a:rPr>
              <a:t>'</a:t>
            </a:r>
            <a:r>
              <a:rPr lang="en-US" dirty="0">
                <a:solidFill>
                  <a:srgbClr val="3E6D82"/>
                </a:solidFill>
                <a:latin typeface="+mj-lt"/>
              </a:rPr>
              <a:t>)</a:t>
            </a:r>
          </a:p>
          <a:p>
            <a:endParaRPr lang="en-US" dirty="0">
              <a:solidFill>
                <a:srgbClr val="3E6D82"/>
              </a:solidFill>
              <a:latin typeface="+mj-lt"/>
            </a:endParaRPr>
          </a:p>
          <a:p>
            <a:r>
              <a:rPr lang="en-US" dirty="0">
                <a:solidFill>
                  <a:srgbClr val="3E6D82"/>
                </a:solidFill>
                <a:latin typeface="+mj-lt"/>
              </a:rPr>
              <a:t>For </a:t>
            </a:r>
            <a:r>
              <a:rPr lang="en-US" dirty="0">
                <a:latin typeface="Consolas" panose="020B0609020204030204" pitchFamily="49" charset="0"/>
              </a:rPr>
              <a:t>reduction=</a:t>
            </a:r>
            <a:r>
              <a:rPr lang="en-US" dirty="0">
                <a:latin typeface="Aptos Display" panose="020B0004020202020204" pitchFamily="34" charset="0"/>
              </a:rPr>
              <a:t>'</a:t>
            </a:r>
            <a:r>
              <a:rPr lang="en-US" dirty="0">
                <a:latin typeface="Consolas" panose="020B0609020204030204" pitchFamily="49" charset="0"/>
              </a:rPr>
              <a:t>sum</a:t>
            </a:r>
            <a:r>
              <a:rPr lang="en-US" dirty="0">
                <a:latin typeface="Aptos Display" panose="020B0004020202020204" pitchFamily="34" charset="0"/>
              </a:rPr>
              <a:t>' :</a:t>
            </a:r>
          </a:p>
          <a:p>
            <a:r>
              <a:rPr lang="en-US" dirty="0">
                <a:solidFill>
                  <a:srgbClr val="3E6D82"/>
                </a:solidFill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val_loss</a:t>
            </a:r>
            <a:r>
              <a:rPr lang="en-US" dirty="0">
                <a:latin typeface="Consolas" panose="020B0609020204030204" pitchFamily="49" charset="0"/>
              </a:rPr>
              <a:t> += </a:t>
            </a:r>
            <a:r>
              <a:rPr lang="en-US" dirty="0" err="1">
                <a:latin typeface="Consolas" panose="020B0609020204030204" pitchFamily="49" charset="0"/>
              </a:rPr>
              <a:t>loss.item</a:t>
            </a:r>
            <a:r>
              <a:rPr lang="en-US" dirty="0">
                <a:latin typeface="Consolas" panose="020B0609020204030204" pitchFamily="49" charset="0"/>
              </a:rPr>
              <a:t>()    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val_loss</a:t>
            </a:r>
            <a:r>
              <a:rPr lang="en-US" dirty="0">
                <a:latin typeface="Consolas" panose="020B0609020204030204" pitchFamily="49" charset="0"/>
              </a:rPr>
              <a:t> /=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val_loader.dataset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NL" dirty="0">
              <a:solidFill>
                <a:srgbClr val="3E6D82"/>
              </a:solidFill>
            </a:endParaRP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076903BE-8055-00EA-1C24-D9E537245BAF}"/>
              </a:ext>
            </a:extLst>
          </p:cNvPr>
          <p:cNvSpPr/>
          <p:nvPr/>
        </p:nvSpPr>
        <p:spPr>
          <a:xfrm>
            <a:off x="3681663" y="5678904"/>
            <a:ext cx="3022900" cy="336884"/>
          </a:xfrm>
          <a:prstGeom prst="leftArrow">
            <a:avLst/>
          </a:prstGeom>
          <a:solidFill>
            <a:srgbClr val="3E6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51489317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21D33-06B1-0786-1EFD-8AB2D5CD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FB3B47-B6A1-485F-AB89-ECBC73698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Loading models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8DEBB-0DE6-EEC3-C38F-AA19EEA50C0C}"/>
              </a:ext>
            </a:extLst>
          </p:cNvPr>
          <p:cNvSpPr txBox="1">
            <a:spLocks/>
          </p:cNvSpPr>
          <p:nvPr/>
        </p:nvSpPr>
        <p:spPr>
          <a:xfrm>
            <a:off x="916038" y="2183621"/>
            <a:ext cx="11006866" cy="7930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4657B"/>
                </a:solidFill>
              </a:rPr>
              <a:t>After the model weights have been saved, either per epoch or for the best performance on the validation dataset, we can load them for independent model evaluation: 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4657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124EF-32D2-159C-EC10-7DFF0C7EB6E7}"/>
              </a:ext>
            </a:extLst>
          </p:cNvPr>
          <p:cNvSpPr txBox="1"/>
          <p:nvPr/>
        </p:nvSpPr>
        <p:spPr>
          <a:xfrm>
            <a:off x="916038" y="3084073"/>
            <a:ext cx="74027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torch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model.load_state_dict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torch.load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best_model.pth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dirty="0" err="1">
                <a:latin typeface="Consolas" panose="020B0609020204030204" pitchFamily="49" charset="0"/>
              </a:rPr>
              <a:t>weights_only</a:t>
            </a:r>
            <a:r>
              <a:rPr lang="en-US" sz="1400" dirty="0">
                <a:latin typeface="Consolas" panose="020B0609020204030204" pitchFamily="49" charset="0"/>
              </a:rPr>
              <a:t>=True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model.to(device)</a:t>
            </a:r>
          </a:p>
          <a:p>
            <a:pPr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model.eval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predictions = []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torch.no_grad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inputs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test_loader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inputs = inputs.to(device) 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 outputs = model(inputs)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predictions.extend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outputs.cpu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AD881-D323-E580-9D20-0564F56BEE9D}"/>
              </a:ext>
            </a:extLst>
          </p:cNvPr>
          <p:cNvSpPr txBox="1"/>
          <p:nvPr/>
        </p:nvSpPr>
        <p:spPr>
          <a:xfrm>
            <a:off x="6970560" y="4100852"/>
            <a:ext cx="5041554" cy="2585323"/>
          </a:xfrm>
          <a:prstGeom prst="rect">
            <a:avLst/>
          </a:prstGeom>
          <a:solidFill>
            <a:schemeClr val="bg1"/>
          </a:solidFill>
          <a:ln w="19050">
            <a:solidFill>
              <a:srgbClr val="3E6D8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E6D82"/>
                </a:solidFill>
              </a:rPr>
              <a:t>From </a:t>
            </a:r>
            <a:r>
              <a:rPr lang="en-US" dirty="0" err="1">
                <a:solidFill>
                  <a:srgbClr val="3E6D82"/>
                </a:solidFill>
              </a:rPr>
              <a:t>Pytorch</a:t>
            </a:r>
            <a:r>
              <a:rPr lang="en-US" dirty="0">
                <a:solidFill>
                  <a:srgbClr val="3E6D82"/>
                </a:solidFill>
              </a:rPr>
              <a:t> 2.6 onwards, the </a:t>
            </a:r>
            <a:r>
              <a:rPr lang="en-US" dirty="0" err="1">
                <a:latin typeface="Consolas" panose="020B0609020204030204" pitchFamily="49" charset="0"/>
              </a:rPr>
              <a:t>weights_only</a:t>
            </a:r>
            <a:r>
              <a:rPr lang="en-US" dirty="0">
                <a:latin typeface="Consolas" panose="020B0609020204030204" pitchFamily="49" charset="0"/>
              </a:rPr>
              <a:t>=True </a:t>
            </a:r>
            <a:r>
              <a:rPr lang="en-US" dirty="0">
                <a:solidFill>
                  <a:srgbClr val="3E6D82"/>
                </a:solidFill>
              </a:rPr>
              <a:t>has become default.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nsolas" panose="020B0609020204030204" pitchFamily="49" charset="0"/>
              </a:rPr>
              <a:t>weights_only</a:t>
            </a:r>
            <a:r>
              <a:rPr lang="en-US" dirty="0">
                <a:latin typeface="Consolas" panose="020B0609020204030204" pitchFamily="49" charset="0"/>
              </a:rPr>
              <a:t>=True </a:t>
            </a:r>
            <a:r>
              <a:rPr lang="en-US" dirty="0">
                <a:solidFill>
                  <a:srgbClr val="3E6D82"/>
                </a:solidFill>
              </a:rPr>
              <a:t>would be used for most inference tasks when the model architecture is already defined. Typical behavior when loading from disk.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nsolas" panose="020B0609020204030204" pitchFamily="49" charset="0"/>
              </a:rPr>
              <a:t>weights_only</a:t>
            </a:r>
            <a:r>
              <a:rPr lang="en-US" dirty="0">
                <a:latin typeface="Consolas" panose="020B0609020204030204" pitchFamily="49" charset="0"/>
              </a:rPr>
              <a:t>=False </a:t>
            </a:r>
            <a:r>
              <a:rPr lang="en-US" dirty="0">
                <a:solidFill>
                  <a:srgbClr val="3E6D82"/>
                </a:solidFill>
              </a:rPr>
              <a:t>if you want to resume training from a specific checkpoint. It includes metadata and optimizer data.</a:t>
            </a:r>
            <a:endParaRPr lang="en-NL" dirty="0">
              <a:solidFill>
                <a:srgbClr val="3E6D82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FC74536-FD9E-ECCF-F7EC-D3EFCDBCFFF9}"/>
              </a:ext>
            </a:extLst>
          </p:cNvPr>
          <p:cNvCxnSpPr/>
          <p:nvPr/>
        </p:nvCxnSpPr>
        <p:spPr>
          <a:xfrm flipV="1">
            <a:off x="6969512" y="3859025"/>
            <a:ext cx="0" cy="233473"/>
          </a:xfrm>
          <a:prstGeom prst="straightConnector1">
            <a:avLst/>
          </a:prstGeom>
          <a:ln w="19050">
            <a:solidFill>
              <a:srgbClr val="3E6D8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93039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A6A64-A80F-3355-D83B-B09060014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0369AA-D2BE-B578-707D-1D6A2A632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Reproducing results - seeds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89840C1-1FCA-B1F8-0E0F-B8621D4B26A3}"/>
              </a:ext>
            </a:extLst>
          </p:cNvPr>
          <p:cNvSpPr txBox="1">
            <a:spLocks/>
          </p:cNvSpPr>
          <p:nvPr/>
        </p:nvSpPr>
        <p:spPr>
          <a:xfrm>
            <a:off x="839838" y="2319760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Many operations in deep learning involve randomness (e.g., weight initialization, data shuffling, dropout)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When debugging or running experiments, it’s handy to ensure that every run produces the same outputs: for example, when experimenting with different model architectures or hyperparameters that need to be compared under the same conditions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With </a:t>
            </a:r>
            <a:r>
              <a:rPr lang="en-US" b="1" dirty="0">
                <a:solidFill>
                  <a:srgbClr val="34657B"/>
                </a:solidFill>
              </a:rPr>
              <a:t>seeds</a:t>
            </a:r>
            <a:r>
              <a:rPr lang="en-US" dirty="0">
                <a:solidFill>
                  <a:srgbClr val="34657B"/>
                </a:solidFill>
              </a:rPr>
              <a:t> we can make the experiments and results reproducible</a:t>
            </a:r>
            <a:br>
              <a:rPr lang="en-US" dirty="0">
                <a:solidFill>
                  <a:srgbClr val="34657B"/>
                </a:solidFill>
              </a:rPr>
            </a:br>
            <a:endParaRPr lang="en-US" dirty="0">
              <a:solidFill>
                <a:srgbClr val="34657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4657B"/>
                </a:solidFill>
              </a:rPr>
              <a:t>By setting a seed, the random number generator (RNG) in Python is initialized to a fixed state. This ensures that any subsequent random operations (like weight initialization, shuffling, dropout) generate the same sequence of numbers every time the code is run</a:t>
            </a:r>
          </a:p>
        </p:txBody>
      </p:sp>
    </p:spTree>
    <p:extLst>
      <p:ext uri="{BB962C8B-B14F-4D97-AF65-F5344CB8AC3E}">
        <p14:creationId xmlns:p14="http://schemas.microsoft.com/office/powerpoint/2010/main" val="151350581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2C49C-2DBF-AE85-95B1-0D91C6844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92A2B5-D51D-2E7D-0344-611E0CE4D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Reproducing results - seeds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88737D-EFDF-0B59-48CE-D60FFFBE086C}"/>
              </a:ext>
            </a:extLst>
          </p:cNvPr>
          <p:cNvSpPr txBox="1"/>
          <p:nvPr/>
        </p:nvSpPr>
        <p:spPr>
          <a:xfrm>
            <a:off x="877938" y="2215761"/>
            <a:ext cx="104361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torch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random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pPr>
              <a:lnSpc>
                <a:spcPts val="1425"/>
              </a:lnSpc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set the seed to an arbitrary number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seed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</a:p>
          <a:p>
            <a:pPr>
              <a:lnSpc>
                <a:spcPts val="1425"/>
              </a:lnSpc>
            </a:pPr>
            <a:endParaRPr lang="en-US" sz="1200" dirty="0">
              <a:solidFill>
                <a:srgbClr val="09865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set the seed for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Pytorch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torch.manual_seed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(seed)  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ensure seed is set for all GPUs (if using CUDA)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torch.cuda.manual_seed_all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(seed)  </a:t>
            </a:r>
          </a:p>
          <a:p>
            <a:pPr>
              <a:lnSpc>
                <a:spcPts val="1425"/>
              </a:lnSpc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set seed for NumPy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np.random.seed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(seed)  </a:t>
            </a:r>
          </a:p>
          <a:p>
            <a:pPr>
              <a:lnSpc>
                <a:spcPts val="1425"/>
              </a:lnSpc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set seed for Python's random module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random.seed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(seed)</a:t>
            </a:r>
          </a:p>
          <a:p>
            <a:pPr>
              <a:lnSpc>
                <a:spcPts val="1425"/>
              </a:lnSpc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ensure deterministic behavior in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cuDNN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torch.backends.cudnn.deterministic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disable benchmark mode for full reproducibility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torch.backends.cudnn.benchmark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</p:txBody>
      </p:sp>
    </p:spTree>
    <p:extLst>
      <p:ext uri="{BB962C8B-B14F-4D97-AF65-F5344CB8AC3E}">
        <p14:creationId xmlns:p14="http://schemas.microsoft.com/office/powerpoint/2010/main" val="3776131916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779B5-BF77-4917-AB6E-D0B538FDB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CAB223-63D3-78AE-3D7D-EDFE793D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 fontScale="90000"/>
          </a:bodyPr>
          <a:lstStyle/>
          <a:p>
            <a:r>
              <a:rPr lang="en-US" dirty="0"/>
              <a:t>Putting everything together! – part 1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51BF8-5F13-4BAD-9F78-6C8651B6B2DA}"/>
              </a:ext>
            </a:extLst>
          </p:cNvPr>
          <p:cNvSpPr txBox="1"/>
          <p:nvPr/>
        </p:nvSpPr>
        <p:spPr>
          <a:xfrm>
            <a:off x="839838" y="2261198"/>
            <a:ext cx="898488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torch</a:t>
            </a: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torch.nn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torch.optim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optim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torch.utils.data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Dataset,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DataLoader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pandas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pd</a:t>
            </a:r>
          </a:p>
          <a:p>
            <a:pPr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(Dataset):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super().__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__()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pd.read_csv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'split'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== split]</a:t>
            </a:r>
          </a:p>
          <a:p>
            <a:pPr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__(self):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__(self, index):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row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.data.iloc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[index]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features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torch.tensor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([row[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'feature1'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 row[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'feature2'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]],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=torch.float32)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target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torch.tensor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(row[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'target'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=torch.float32).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unsqueeze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features, target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7C94BB-F06F-241C-74E8-CFFBBC6C7B75}"/>
              </a:ext>
            </a:extLst>
          </p:cNvPr>
          <p:cNvSpPr txBox="1"/>
          <p:nvPr/>
        </p:nvSpPr>
        <p:spPr>
          <a:xfrm>
            <a:off x="8013628" y="2470767"/>
            <a:ext cx="317585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E6D82"/>
                </a:solidFill>
              </a:rPr>
              <a:t>data.csv</a:t>
            </a:r>
            <a:endParaRPr lang="en-NL" dirty="0">
              <a:solidFill>
                <a:srgbClr val="3E6D8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752D0-6A8A-3454-19F5-70845BA38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953" y="2840099"/>
            <a:ext cx="3501209" cy="195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39931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6BBEC-2858-EFB3-147E-EC3C2CFFE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3FAD5D-799C-4C95-9ADC-ABB6E582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 fontScale="90000"/>
          </a:bodyPr>
          <a:lstStyle/>
          <a:p>
            <a:r>
              <a:rPr lang="en-US" dirty="0"/>
              <a:t>Putting everything together! – part 2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575B2-9254-AE6A-36B5-97A9CEC3218D}"/>
              </a:ext>
            </a:extLst>
          </p:cNvPr>
          <p:cNvSpPr txBox="1"/>
          <p:nvPr/>
        </p:nvSpPr>
        <p:spPr>
          <a:xfrm>
            <a:off x="839838" y="2636716"/>
            <a:ext cx="8984882" cy="2081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NeuralNetwork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nn.Module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__(self,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num_inputs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num_outputs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super().__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__()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.model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nn.Sequential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nn.Linear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num_inputs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nn.ReLU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nn.Linear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num_hidden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num_outputs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    )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forward(self, x):</a:t>
            </a: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.model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273692249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E87D0-B433-6490-A88E-6542F3F2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949889-EA5E-3020-84AC-18031568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 fontScale="90000"/>
          </a:bodyPr>
          <a:lstStyle/>
          <a:p>
            <a:r>
              <a:rPr lang="en-US" dirty="0"/>
              <a:t>Putting everything together! – part 3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280FD-3794-0AED-704A-2C86BCE61B18}"/>
              </a:ext>
            </a:extLst>
          </p:cNvPr>
          <p:cNvSpPr txBox="1"/>
          <p:nvPr/>
        </p:nvSpPr>
        <p:spPr>
          <a:xfrm>
            <a:off x="839838" y="2469095"/>
            <a:ext cx="89848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__name__ ==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"__main__"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device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torch.device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cuda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torch.cuda.is_available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torch.device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cpu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'data.csv'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split=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'train'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split=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'validation'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csv_file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split=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'test'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batch_size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32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batch_size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batch_size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shuffle=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batch_size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batch_size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test_loader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test_dataset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batch_size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batch_size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num_epochs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model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NeuralNetwork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criterion = nn.L1Loss()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optimizer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optim.SGD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model.parameters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0.01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weight_decay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1e-5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38882611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56B3E-655D-FE35-D198-8F7B7FCF1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D14565-D095-D685-3D91-781B17C3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 fontScale="90000"/>
          </a:bodyPr>
          <a:lstStyle/>
          <a:p>
            <a:r>
              <a:rPr lang="en-US" dirty="0"/>
              <a:t>Putting everything together! – part 4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16E3D-9FBD-46D5-4975-51A32CF4E2CC}"/>
              </a:ext>
            </a:extLst>
          </p:cNvPr>
          <p:cNvSpPr txBox="1"/>
          <p:nvPr/>
        </p:nvSpPr>
        <p:spPr>
          <a:xfrm>
            <a:off x="563022" y="2758655"/>
            <a:ext cx="1096186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model.to(device)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best_val_loss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float(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'inf'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epoch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range(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num_epochs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model.train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inputs, targets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inputs, targets = inputs.to(device), targets.to(device)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optimizer.zero_grad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outputs = model(inputs)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loss = criterion(outputs, targets)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loss.backward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optimizer.step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loss.item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 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EAF9E-F78B-91E3-9218-5BC05FC6BED1}"/>
              </a:ext>
            </a:extLst>
          </p:cNvPr>
          <p:cNvSpPr txBox="1"/>
          <p:nvPr/>
        </p:nvSpPr>
        <p:spPr>
          <a:xfrm>
            <a:off x="962025" y="3219450"/>
            <a:ext cx="6721165" cy="24323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6A337-F98C-364F-0EE6-DE775AFB1543}"/>
              </a:ext>
            </a:extLst>
          </p:cNvPr>
          <p:cNvSpPr txBox="1"/>
          <p:nvPr/>
        </p:nvSpPr>
        <p:spPr>
          <a:xfrm>
            <a:off x="7820024" y="3971925"/>
            <a:ext cx="2686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a typical training loop in </a:t>
            </a:r>
            <a:r>
              <a:rPr lang="en-US" dirty="0" err="1">
                <a:solidFill>
                  <a:srgbClr val="FF0000"/>
                </a:solidFill>
              </a:rPr>
              <a:t>Pytorch</a:t>
            </a:r>
            <a:r>
              <a:rPr lang="en-US" dirty="0">
                <a:solidFill>
                  <a:srgbClr val="FF0000"/>
                </a:solidFill>
              </a:rPr>
              <a:t>!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198046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AD283-5E96-B505-8F46-5F3BFBA3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FB8AC5-A561-3BCD-6055-438047B58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 fontScale="90000"/>
          </a:bodyPr>
          <a:lstStyle/>
          <a:p>
            <a:r>
              <a:rPr lang="en-US" dirty="0"/>
              <a:t>Putting everything together! – part 5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03681B-DBD5-65BD-A102-0057D36F2A27}"/>
              </a:ext>
            </a:extLst>
          </p:cNvPr>
          <p:cNvSpPr txBox="1"/>
          <p:nvPr/>
        </p:nvSpPr>
        <p:spPr>
          <a:xfrm>
            <a:off x="400462" y="2301455"/>
            <a:ext cx="1096186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# Validation phase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model.eval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with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torch.no_grad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inputs, targets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inputs, targets = inputs.to(device), targets.to(device)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outputs = model(inputs)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loss = criterion(outputs, targets)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loss.item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/=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train_loader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/=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print(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"Epoch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{epoch +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num_epochs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, Train Loss: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{train_loss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:.4f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, Val Loss: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{val_loss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:.4f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best_val_loss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best_val_loss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val_loss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torch.save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model.state_dict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best_model.pth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print(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"Saved Best Model"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  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2ECF1-F0B6-5CC4-DE92-84053F5F563B}"/>
              </a:ext>
            </a:extLst>
          </p:cNvPr>
          <p:cNvSpPr txBox="1"/>
          <p:nvPr/>
        </p:nvSpPr>
        <p:spPr>
          <a:xfrm>
            <a:off x="1181101" y="2301455"/>
            <a:ext cx="6591300" cy="2014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A9139-FA7F-D663-8994-5EFB50391A80}"/>
              </a:ext>
            </a:extLst>
          </p:cNvPr>
          <p:cNvSpPr txBox="1"/>
          <p:nvPr/>
        </p:nvSpPr>
        <p:spPr>
          <a:xfrm>
            <a:off x="7972424" y="2952750"/>
            <a:ext cx="290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a typical validation loop in </a:t>
            </a:r>
            <a:r>
              <a:rPr lang="en-US" dirty="0" err="1">
                <a:solidFill>
                  <a:srgbClr val="FF0000"/>
                </a:solidFill>
              </a:rPr>
              <a:t>Pytorch</a:t>
            </a:r>
            <a:r>
              <a:rPr lang="en-US" dirty="0">
                <a:solidFill>
                  <a:srgbClr val="FF0000"/>
                </a:solidFill>
              </a:rPr>
              <a:t>!</a:t>
            </a:r>
            <a:endParaRPr lang="en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570344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C076-C800-1178-3C28-9F6C0D05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94B6AF-8BD3-D27C-F262-05FE46FE5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 fontScale="90000"/>
          </a:bodyPr>
          <a:lstStyle/>
          <a:p>
            <a:r>
              <a:rPr lang="en-US" dirty="0"/>
              <a:t>Putting everything together! – part 6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EB170-8675-7803-2FE0-20D8A12CEBDF}"/>
              </a:ext>
            </a:extLst>
          </p:cNvPr>
          <p:cNvSpPr txBox="1"/>
          <p:nvPr/>
        </p:nvSpPr>
        <p:spPr>
          <a:xfrm>
            <a:off x="667118" y="2789135"/>
            <a:ext cx="109618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# Test phase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model.load_state_dict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torch.load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best_model.pth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model.to(device)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model.eval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with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torch.no_grad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inputs, targets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test_loader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inputs, targets = inputs.to(device), targets.to(device)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outputs = model(inputs)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loss = criterion(outputs, targets)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loss.item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print(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"Test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Loss: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test_loss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test_loader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:.4f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EAA9C7-BEE1-2357-A32E-6DBBA0F58AA6}"/>
              </a:ext>
            </a:extLst>
          </p:cNvPr>
          <p:cNvSpPr txBox="1"/>
          <p:nvPr/>
        </p:nvSpPr>
        <p:spPr>
          <a:xfrm>
            <a:off x="1028700" y="2789135"/>
            <a:ext cx="6810607" cy="27223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45958-E9F5-0649-5221-E956670C3CB5}"/>
              </a:ext>
            </a:extLst>
          </p:cNvPr>
          <p:cNvSpPr txBox="1"/>
          <p:nvPr/>
        </p:nvSpPr>
        <p:spPr>
          <a:xfrm>
            <a:off x="8010524" y="3078723"/>
            <a:ext cx="39800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a typical test </a:t>
            </a:r>
          </a:p>
          <a:p>
            <a:r>
              <a:rPr lang="en-US" dirty="0">
                <a:solidFill>
                  <a:srgbClr val="FF0000"/>
                </a:solidFill>
              </a:rPr>
              <a:t>loop in </a:t>
            </a:r>
            <a:r>
              <a:rPr lang="en-US" dirty="0" err="1">
                <a:solidFill>
                  <a:srgbClr val="FF0000"/>
                </a:solidFill>
              </a:rPr>
              <a:t>Pytorch</a:t>
            </a:r>
            <a:r>
              <a:rPr lang="en-US" dirty="0">
                <a:solidFill>
                  <a:srgbClr val="FF0000"/>
                </a:solidFill>
              </a:rPr>
              <a:t>!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Preferably, use better-to-understand metrics to evaluate performance:</a:t>
            </a:r>
          </a:p>
          <a:p>
            <a:endParaRPr lang="en-US" dirty="0"/>
          </a:p>
          <a:p>
            <a:r>
              <a:rPr lang="en-US" dirty="0"/>
              <a:t>Regression: RMSE, MAE</a:t>
            </a:r>
          </a:p>
          <a:p>
            <a:r>
              <a:rPr lang="en-US" dirty="0"/>
              <a:t>Classification: Accuracy, Top-5 score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35188309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3942-B376-A32E-98C6-05ED9BEF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27CB82-8E2E-5800-0FA2-BC2DB19C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rmAutofit/>
          </a:bodyPr>
          <a:lstStyle/>
          <a:p>
            <a:r>
              <a:rPr lang="en-US" dirty="0"/>
              <a:t>Recommended reading material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D15D520-E3BB-697C-5090-2C820CFA268F}"/>
              </a:ext>
            </a:extLst>
          </p:cNvPr>
          <p:cNvSpPr txBox="1">
            <a:spLocks/>
          </p:cNvSpPr>
          <p:nvPr/>
        </p:nvSpPr>
        <p:spPr>
          <a:xfrm>
            <a:off x="962502" y="2050352"/>
            <a:ext cx="11006866" cy="443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34657B"/>
              </a:solidFill>
            </a:endParaRPr>
          </a:p>
          <a:p>
            <a:endParaRPr lang="en-US" dirty="0">
              <a:solidFill>
                <a:srgbClr val="34657B"/>
              </a:solidFill>
            </a:endParaRPr>
          </a:p>
          <a:p>
            <a:endParaRPr lang="en-US" dirty="0">
              <a:solidFill>
                <a:srgbClr val="34657B"/>
              </a:solidFill>
            </a:endParaRPr>
          </a:p>
          <a:p>
            <a:endParaRPr lang="en-US" dirty="0">
              <a:solidFill>
                <a:srgbClr val="34657B"/>
              </a:solidFill>
            </a:endParaRPr>
          </a:p>
          <a:p>
            <a:r>
              <a:rPr lang="en-US" dirty="0">
                <a:solidFill>
                  <a:srgbClr val="34657B"/>
                </a:solidFill>
              </a:rPr>
              <a:t>Deep Learning with </a:t>
            </a:r>
            <a:r>
              <a:rPr lang="en-US" dirty="0" err="1">
                <a:solidFill>
                  <a:srgbClr val="34657B"/>
                </a:solidFill>
              </a:rPr>
              <a:t>Pytorch</a:t>
            </a:r>
            <a:r>
              <a:rPr lang="en-US" dirty="0">
                <a:solidFill>
                  <a:srgbClr val="34657B"/>
                </a:solidFill>
              </a:rPr>
              <a:t> book: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7D88B-354D-8D85-DE8E-64CE2A864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446" y="2050352"/>
            <a:ext cx="3648977" cy="461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77688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D441D-BA12-E403-EE1F-EFFCF78A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7F4361-3377-417A-83FF-A8C81F43BD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Today’s Computer assignment</a:t>
            </a:r>
            <a:endParaRPr lang="LID4096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E8634F-3B6B-B22A-1C8F-109BB2EC84E2}"/>
              </a:ext>
            </a:extLst>
          </p:cNvPr>
          <p:cNvSpPr txBox="1">
            <a:spLocks/>
          </p:cNvSpPr>
          <p:nvPr/>
        </p:nvSpPr>
        <p:spPr>
          <a:xfrm>
            <a:off x="635357" y="6356350"/>
            <a:ext cx="4143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Pytorch</a:t>
            </a:r>
            <a:r>
              <a:rPr kumimoji="0" lang="en-US" sz="1200" b="0" i="0" u="none" strike="noStrike" kern="1200" cap="small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t> in production</a:t>
            </a:r>
          </a:p>
        </p:txBody>
      </p:sp>
    </p:spTree>
    <p:extLst>
      <p:ext uri="{BB962C8B-B14F-4D97-AF65-F5344CB8AC3E}">
        <p14:creationId xmlns:p14="http://schemas.microsoft.com/office/powerpoint/2010/main" val="18213467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1FC1-B46F-63B9-5B52-84A3A384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11A2F4-A682-74DA-2CB9-8933487F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cap="all" dirty="0"/>
              <a:t>Lab session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79CC9-E4DB-1D48-7FA1-4F15E0D4D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156632"/>
            <a:ext cx="10789139" cy="3805201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5E77"/>
                </a:solidFill>
              </a:rPr>
              <a:t>Objective: make a custom data loader class, neural network architecture, and training loop in </a:t>
            </a:r>
            <a:r>
              <a:rPr lang="en-US" dirty="0" err="1">
                <a:solidFill>
                  <a:srgbClr val="2D5E77"/>
                </a:solidFill>
              </a:rPr>
              <a:t>Pytorch</a:t>
            </a:r>
            <a:endParaRPr lang="en-US" dirty="0">
              <a:solidFill>
                <a:srgbClr val="2D5E7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D5E77"/>
                </a:solidFill>
              </a:rPr>
              <a:t>Dataset: abalone with </a:t>
            </a:r>
            <a:r>
              <a:rPr lang="en-US" b="1" dirty="0">
                <a:solidFill>
                  <a:srgbClr val="2D5E77"/>
                </a:solidFill>
              </a:rPr>
              <a:t>categorial</a:t>
            </a:r>
            <a:r>
              <a:rPr lang="en-US" dirty="0">
                <a:solidFill>
                  <a:srgbClr val="2D5E77"/>
                </a:solidFill>
              </a:rPr>
              <a:t> and </a:t>
            </a:r>
            <a:r>
              <a:rPr lang="en-US" b="1" dirty="0">
                <a:solidFill>
                  <a:srgbClr val="2D5E77"/>
                </a:solidFill>
              </a:rPr>
              <a:t>continuous</a:t>
            </a:r>
            <a:r>
              <a:rPr lang="en-US" dirty="0">
                <a:solidFill>
                  <a:srgbClr val="2D5E77"/>
                </a:solidFill>
              </a:rPr>
              <a:t> input data (8 variables) and 1 target (rings): CSV file</a:t>
            </a:r>
            <a:endParaRPr lang="en-US" b="0" i="0" dirty="0">
              <a:solidFill>
                <a:srgbClr val="2D5E77"/>
              </a:solidFill>
              <a:effectLst/>
              <a:latin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2C5F53-0722-7AB6-9DE0-50314FBE2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625254"/>
              </p:ext>
            </p:extLst>
          </p:nvPr>
        </p:nvGraphicFramePr>
        <p:xfrm>
          <a:off x="857405" y="3225547"/>
          <a:ext cx="11006867" cy="3396992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1720482">
                  <a:extLst>
                    <a:ext uri="{9D8B030D-6E8A-4147-A177-3AD203B41FA5}">
                      <a16:colId xmlns:a16="http://schemas.microsoft.com/office/drawing/2014/main" val="227373563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758757237"/>
                    </a:ext>
                  </a:extLst>
                </a:gridCol>
                <a:gridCol w="1662106">
                  <a:extLst>
                    <a:ext uri="{9D8B030D-6E8A-4147-A177-3AD203B41FA5}">
                      <a16:colId xmlns:a16="http://schemas.microsoft.com/office/drawing/2014/main" val="1496798288"/>
                    </a:ext>
                  </a:extLst>
                </a:gridCol>
                <a:gridCol w="3392339">
                  <a:extLst>
                    <a:ext uri="{9D8B030D-6E8A-4147-A177-3AD203B41FA5}">
                      <a16:colId xmlns:a16="http://schemas.microsoft.com/office/drawing/2014/main" val="1175690649"/>
                    </a:ext>
                  </a:extLst>
                </a:gridCol>
                <a:gridCol w="1793540">
                  <a:extLst>
                    <a:ext uri="{9D8B030D-6E8A-4147-A177-3AD203B41FA5}">
                      <a16:colId xmlns:a16="http://schemas.microsoft.com/office/drawing/2014/main" val="2349689497"/>
                    </a:ext>
                  </a:extLst>
                </a:gridCol>
              </a:tblGrid>
              <a:tr h="256804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Variable name</a:t>
                      </a:r>
                      <a:endParaRPr lang="en-US" sz="1200" dirty="0">
                        <a:effectLst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Role</a:t>
                      </a:r>
                      <a:endParaRPr lang="en-US" sz="1200">
                        <a:effectLst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Data type</a:t>
                      </a:r>
                      <a:endParaRPr lang="en-US" sz="1200" dirty="0">
                        <a:effectLst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Description</a:t>
                      </a:r>
                      <a:endParaRPr lang="en-US" sz="1200">
                        <a:effectLst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Range</a:t>
                      </a:r>
                      <a:endParaRPr lang="en-US" sz="1200" dirty="0">
                        <a:effectLst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19555168"/>
                  </a:ext>
                </a:extLst>
              </a:tr>
              <a:tr h="449408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Sex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Input variable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Categorical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it-IT" sz="1200">
                          <a:effectLst/>
                        </a:rPr>
                        <a:t>M (male), F (female), I (infant)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endParaRPr lang="en-NL" sz="1200">
                        <a:effectLst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188911807"/>
                  </a:ext>
                </a:extLst>
              </a:tr>
              <a:tr h="449408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Length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Input variable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Continuous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Longest shell measurement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NL" sz="1200">
                          <a:effectLst/>
                        </a:rPr>
                        <a:t>0.075 - 0.815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881074857"/>
                  </a:ext>
                </a:extLst>
              </a:tr>
              <a:tr h="449408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Diameter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Input variable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Continuous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Perpendicular to the length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NL" sz="1200">
                          <a:effectLst/>
                        </a:rPr>
                        <a:t>0.055 - 0.65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00223944"/>
                  </a:ext>
                </a:extLst>
              </a:tr>
              <a:tr h="256804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Height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Input variable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Continuous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With meat in shell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NL" sz="1200">
                          <a:effectLst/>
                        </a:rPr>
                        <a:t>0 - 1.13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576143141"/>
                  </a:ext>
                </a:extLst>
              </a:tr>
              <a:tr h="256804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Whole_weight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Input variable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Continuous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Whole abalone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NL" sz="1200">
                          <a:effectLst/>
                        </a:rPr>
                        <a:t>0.002 - 2.8255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349104784"/>
                  </a:ext>
                </a:extLst>
              </a:tr>
              <a:tr h="256804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Shucked_weight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Input variable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Continuous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Weight of meat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L" sz="1200">
                          <a:effectLst/>
                        </a:rPr>
                        <a:t>0.001 - 1.488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119211711"/>
                  </a:ext>
                </a:extLst>
              </a:tr>
              <a:tr h="256804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Viscera_weight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Input variable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Continuous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Gut weight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NL" sz="1200">
                          <a:effectLst/>
                        </a:rPr>
                        <a:t>0.0005 - 0.76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721560636"/>
                  </a:ext>
                </a:extLst>
              </a:tr>
              <a:tr h="256804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Shell_weight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Input variable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Continuous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After being dried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NL" sz="1200">
                          <a:effectLst/>
                        </a:rPr>
                        <a:t>0.0015 - 1.005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024918822"/>
                  </a:ext>
                </a:extLst>
              </a:tr>
              <a:tr h="449408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Rings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Target variable (output)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Integer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Indication for the age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NL" sz="1200" dirty="0">
                          <a:effectLst/>
                        </a:rPr>
                        <a:t>1 - 29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10588826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A94FE0A-46EB-27C8-EA87-9F4BD95D7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0071" y="103114"/>
            <a:ext cx="1963567" cy="196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50054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1A47-9D8F-BF85-1722-5C1422326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867AE9-CE8D-5971-9932-2A97A2BDC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38" y="1346508"/>
            <a:ext cx="10789140" cy="793053"/>
          </a:xfrm>
        </p:spPr>
        <p:txBody>
          <a:bodyPr>
            <a:noAutofit/>
          </a:bodyPr>
          <a:lstStyle/>
          <a:p>
            <a:r>
              <a:rPr lang="en-US" dirty="0"/>
              <a:t>Tasks</a:t>
            </a:r>
            <a:endParaRPr lang="LID4096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7CC892D-1F13-2601-3802-0D696875F56A}"/>
              </a:ext>
            </a:extLst>
          </p:cNvPr>
          <p:cNvSpPr txBox="1">
            <a:spLocks/>
          </p:cNvSpPr>
          <p:nvPr/>
        </p:nvSpPr>
        <p:spPr>
          <a:xfrm>
            <a:off x="839838" y="2368158"/>
            <a:ext cx="11006866" cy="382077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1pPr>
            <a:lvl2pPr marL="0" indent="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3pPr>
            <a:lvl4pPr marL="0" indent="685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4pPr>
            <a:lvl5pPr marL="0" indent="914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SzTx/>
              <a:buFontTx/>
              <a:buNone/>
              <a:defRPr sz="1800" kern="1200">
                <a:solidFill>
                  <a:schemeClr val="tx1"/>
                </a:solidFill>
                <a:latin typeface="Tenorite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E6D82"/>
                </a:solidFill>
              </a:rPr>
              <a:t>Download the </a:t>
            </a:r>
            <a:r>
              <a:rPr lang="en-US" dirty="0" err="1">
                <a:solidFill>
                  <a:srgbClr val="3E6D82"/>
                </a:solidFill>
              </a:rPr>
              <a:t>Jupyter</a:t>
            </a:r>
            <a:r>
              <a:rPr lang="en-US" dirty="0">
                <a:solidFill>
                  <a:srgbClr val="3E6D82"/>
                </a:solidFill>
              </a:rPr>
              <a:t> Notebook (</a:t>
            </a:r>
            <a:r>
              <a:rPr lang="en-US" b="1" dirty="0">
                <a:solidFill>
                  <a:srgbClr val="3E6D82"/>
                </a:solidFill>
              </a:rPr>
              <a:t>lab04_pytorch.ipynb</a:t>
            </a:r>
            <a:r>
              <a:rPr lang="en-US" dirty="0">
                <a:solidFill>
                  <a:srgbClr val="3E6D82"/>
                </a:solidFill>
              </a:rPr>
              <a:t>) and the </a:t>
            </a:r>
            <a:r>
              <a:rPr lang="en-US" b="1" dirty="0">
                <a:solidFill>
                  <a:srgbClr val="3E6D82"/>
                </a:solidFill>
              </a:rPr>
              <a:t>train.csv </a:t>
            </a:r>
            <a:r>
              <a:rPr lang="en-US" dirty="0">
                <a:solidFill>
                  <a:srgbClr val="3E6D82"/>
                </a:solidFill>
              </a:rPr>
              <a:t>and </a:t>
            </a:r>
            <a:r>
              <a:rPr lang="en-US" b="1" dirty="0">
                <a:solidFill>
                  <a:srgbClr val="3E6D82"/>
                </a:solidFill>
              </a:rPr>
              <a:t>test.csv </a:t>
            </a:r>
            <a:r>
              <a:rPr lang="en-US" dirty="0">
                <a:solidFill>
                  <a:srgbClr val="3E6D82"/>
                </a:solidFill>
              </a:rPr>
              <a:t>data files from Canvas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E6D82"/>
                </a:solidFill>
              </a:rPr>
              <a:t>There are three empty cells that need your code:</a:t>
            </a:r>
            <a:br>
              <a:rPr lang="en-US" dirty="0">
                <a:solidFill>
                  <a:srgbClr val="3E6D82"/>
                </a:solidFill>
              </a:rPr>
            </a:br>
            <a:r>
              <a:rPr lang="en-US" dirty="0">
                <a:solidFill>
                  <a:srgbClr val="3E6D82"/>
                </a:solidFill>
              </a:rPr>
              <a:t> 	- Dataset: build a custom dataset class that loads and preprocesses the categorical and continuous   	inputs and target from the CSV file. </a:t>
            </a:r>
            <a:br>
              <a:rPr lang="en-US" dirty="0">
                <a:solidFill>
                  <a:srgbClr val="3E6D82"/>
                </a:solidFill>
              </a:rPr>
            </a:br>
            <a:br>
              <a:rPr lang="en-US" dirty="0">
                <a:solidFill>
                  <a:srgbClr val="3E6D82"/>
                </a:solidFill>
              </a:rPr>
            </a:br>
            <a:r>
              <a:rPr lang="en-US" dirty="0">
                <a:solidFill>
                  <a:srgbClr val="3E6D82"/>
                </a:solidFill>
              </a:rPr>
              <a:t>          </a:t>
            </a:r>
            <a:r>
              <a:rPr lang="en-US" u="sng" dirty="0">
                <a:solidFill>
                  <a:srgbClr val="3E6D82"/>
                </a:solidFill>
              </a:rPr>
              <a:t>TIP:</a:t>
            </a:r>
            <a:r>
              <a:rPr lang="en-US" dirty="0">
                <a:solidFill>
                  <a:srgbClr val="3E6D82"/>
                </a:solidFill>
              </a:rPr>
              <a:t> apply appropriate splits and prevent data leakage</a:t>
            </a:r>
            <a:br>
              <a:rPr lang="en-US" dirty="0">
                <a:solidFill>
                  <a:srgbClr val="3E6D82"/>
                </a:solidFill>
              </a:rPr>
            </a:br>
            <a:br>
              <a:rPr lang="en-US" dirty="0">
                <a:solidFill>
                  <a:srgbClr val="3E6D82"/>
                </a:solidFill>
              </a:rPr>
            </a:br>
            <a:r>
              <a:rPr lang="en-US" dirty="0">
                <a:solidFill>
                  <a:srgbClr val="3E6D82"/>
                </a:solidFill>
              </a:rPr>
              <a:t> 	- Neural network architecture: find out what type of data analysis this assignment requires, and  	construct an architecture for that task </a:t>
            </a:r>
            <a:br>
              <a:rPr lang="en-US" dirty="0">
                <a:solidFill>
                  <a:srgbClr val="3E6D82"/>
                </a:solidFill>
              </a:rPr>
            </a:br>
            <a:br>
              <a:rPr lang="en-US" dirty="0">
                <a:solidFill>
                  <a:srgbClr val="3E6D82"/>
                </a:solidFill>
              </a:rPr>
            </a:br>
            <a:r>
              <a:rPr lang="en-US" dirty="0">
                <a:solidFill>
                  <a:srgbClr val="3E6D82"/>
                </a:solidFill>
              </a:rPr>
              <a:t> 	- Training loop: implement your training procedure using the defined functions and classes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E6D82"/>
                </a:solidFill>
              </a:rPr>
              <a:t>Revisit the slides to get inspiration!</a:t>
            </a:r>
          </a:p>
        </p:txBody>
      </p:sp>
    </p:spTree>
    <p:extLst>
      <p:ext uri="{BB962C8B-B14F-4D97-AF65-F5344CB8AC3E}">
        <p14:creationId xmlns:p14="http://schemas.microsoft.com/office/powerpoint/2010/main" val="8029009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" id="{11346FDE-2DA4-453A-ACF7-41117CE5C235}" vid="{A628C74B-DC45-4C37-9A15-B37206CA45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5826B4-4DD2-4A9B-8D6D-E91CF9C231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C7F809-A434-4A8D-A127-1C50C2DB3890}">
  <ds:schemaRefs>
    <ds:schemaRef ds:uri="230e9df3-be65-4c73-a93b-d1236ebd677e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purl.org/dc/terms/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0E6EE1E-660B-46C6-AC21-8E505FB9574F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{B81E3AC1-3B77-4018-AF52-F79D9F84F960}tf67328976_win32</Template>
  <TotalTime>4672</TotalTime>
  <Words>7418</Words>
  <Application>Microsoft Office PowerPoint</Application>
  <PresentationFormat>Widescreen</PresentationFormat>
  <Paragraphs>888</Paragraphs>
  <Slides>47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 Display</vt:lpstr>
      <vt:lpstr>Arial</vt:lpstr>
      <vt:lpstr>Calibri</vt:lpstr>
      <vt:lpstr>Cambria Math</vt:lpstr>
      <vt:lpstr>Consolas</vt:lpstr>
      <vt:lpstr>Tenorite</vt:lpstr>
      <vt:lpstr>Office Theme</vt:lpstr>
      <vt:lpstr>PowerPoint Presentation</vt:lpstr>
      <vt:lpstr>Group formations</vt:lpstr>
      <vt:lpstr>Pytorch concepts</vt:lpstr>
      <vt:lpstr>tensors</vt:lpstr>
      <vt:lpstr>Numpy arrays vs pytorch tensors</vt:lpstr>
      <vt:lpstr>Tensors</vt:lpstr>
      <vt:lpstr>Tensor operations</vt:lpstr>
      <vt:lpstr>Conversions and operations</vt:lpstr>
      <vt:lpstr>Tensor dataset</vt:lpstr>
      <vt:lpstr>Customized datasets</vt:lpstr>
      <vt:lpstr>Customized datasets - regression</vt:lpstr>
      <vt:lpstr>Customized datasets - classification</vt:lpstr>
      <vt:lpstr>Dataset operators: full one-hot encoding</vt:lpstr>
      <vt:lpstr>Dataset operators: full one-hot encoding</vt:lpstr>
      <vt:lpstr>Dataset operators: data splits</vt:lpstr>
      <vt:lpstr>Dataset operators - normalization</vt:lpstr>
      <vt:lpstr>Dataset operators - standardization</vt:lpstr>
      <vt:lpstr>dataloaders</vt:lpstr>
      <vt:lpstr>Models</vt:lpstr>
      <vt:lpstr>Models</vt:lpstr>
      <vt:lpstr>Rules of thumb when designing models</vt:lpstr>
      <vt:lpstr>layers</vt:lpstr>
      <vt:lpstr>Loss functions</vt:lpstr>
      <vt:lpstr>Optimization algorithms</vt:lpstr>
      <vt:lpstr>autograd</vt:lpstr>
      <vt:lpstr>autograd – zero_grad()</vt:lpstr>
      <vt:lpstr>Batch normalization</vt:lpstr>
      <vt:lpstr>Regularization</vt:lpstr>
      <vt:lpstr>Regularization</vt:lpstr>
      <vt:lpstr>Regularization – Data augmentation</vt:lpstr>
      <vt:lpstr>Visualization tools - custom</vt:lpstr>
      <vt:lpstr>Visualization tools - tensorboard</vt:lpstr>
      <vt:lpstr>Saving model weights – per epoch</vt:lpstr>
      <vt:lpstr>Saving model weights – best performance</vt:lpstr>
      <vt:lpstr>Loading models</vt:lpstr>
      <vt:lpstr>Reproducing results - seeds</vt:lpstr>
      <vt:lpstr>Reproducing results - seeds</vt:lpstr>
      <vt:lpstr>Putting everything together! – part 1</vt:lpstr>
      <vt:lpstr>Putting everything together! – part 2</vt:lpstr>
      <vt:lpstr>Putting everything together! – part 3</vt:lpstr>
      <vt:lpstr>Putting everything together! – part 4</vt:lpstr>
      <vt:lpstr>Putting everything together! – part 5</vt:lpstr>
      <vt:lpstr>Putting everything together! – part 6</vt:lpstr>
      <vt:lpstr>Recommended reading material</vt:lpstr>
      <vt:lpstr>Today’s Computer assignment</vt:lpstr>
      <vt:lpstr>Lab session</vt:lpstr>
      <vt:lpstr>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Matteo Bustreo</dc:creator>
  <cp:lastModifiedBy>Blok, Pieter</cp:lastModifiedBy>
  <cp:revision>305</cp:revision>
  <cp:lastPrinted>2025-03-18T16:03:40Z</cp:lastPrinted>
  <dcterms:created xsi:type="dcterms:W3CDTF">2024-01-08T12:34:32Z</dcterms:created>
  <dcterms:modified xsi:type="dcterms:W3CDTF">2026-03-04T14:42:01Z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